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969696"/>
                </a:solidFill>
                <a:latin typeface="Calibri"/>
              </a:rPr>
              <a:t>Should We Roll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Calibri"/>
              </a:rPr>
              <a:t>The Stronger Boost?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4285F4"/>
                </a:solidFill>
                <a:latin typeface="Calibri"/>
              </a:rPr>
              <a:t>A/B Test Analysis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69696"/>
                </a:solidFill>
                <a:latin typeface="Calibri"/>
              </a:rPr>
              <a:t>Game Data Analysis  |  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C8C8C8"/>
                </a:solidFill>
                <a:latin typeface="Calibri"/>
              </a:rPr>
              <a:t>"Some levels are too hard."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69696"/>
                </a:solidFill>
                <a:latin typeface="Calibri"/>
              </a:rPr>
              <a:t>— Player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A4335"/>
                </a:solidFill>
                <a:latin typeface="Calibri"/>
              </a:rPr>
              <a:t>Player frustration → Potential churn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69696"/>
                </a:solidFill>
                <a:latin typeface="Calibri"/>
              </a:rPr>
              <a:t>Hypothesis: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4A853"/>
                </a:solidFill>
                <a:latin typeface="Calibri"/>
              </a:rPr>
              <a:t>A stronger boost will help players succeed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4A853"/>
                </a:solidFill>
                <a:latin typeface="Calibri"/>
              </a:rPr>
              <a:t>without breaking the game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285F4"/>
                </a:solidFill>
                <a:latin typeface="Calibri"/>
              </a:rPr>
              <a:t>GROUP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9202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Stronger 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69696"/>
                </a:solidFill>
                <a:latin typeface="Calibri"/>
              </a:rPr>
              <a:t>6,923 players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969696"/>
                </a:solidFill>
                <a:latin typeface="Calibri"/>
              </a:rPr>
              <a:t>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A4335"/>
                </a:solidFill>
                <a:latin typeface="Calibri"/>
              </a:rPr>
              <a:t>GROUP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9202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Original Boost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774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69696"/>
                </a:solidFill>
                <a:latin typeface="Calibri"/>
              </a:rPr>
              <a:t>7,017 players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69696"/>
                </a:solidFill>
                <a:latin typeface="Calibri"/>
              </a:rPr>
              <a:t>Timeline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2743200" cy="731520"/>
          </a:xfrm>
          <a:prstGeom prst="rect">
            <a:avLst/>
          </a:prstGeom>
          <a:solidFill>
            <a:srgbClr val="3C3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Jan - May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69696"/>
                </a:solidFill>
                <a:latin typeface="Calibri"/>
              </a:rPr>
              <a:t>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4114800"/>
            <a:ext cx="3200400" cy="7315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41148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June - Sept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4348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A/B TEST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4114800"/>
            <a:ext cx="2743200" cy="731520"/>
          </a:xfrm>
          <a:prstGeom prst="rect">
            <a:avLst/>
          </a:prstGeom>
          <a:solidFill>
            <a:srgbClr val="3C3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4114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Oct - Dec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4348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69696"/>
                </a:solidFill>
                <a:latin typeface="Calibri"/>
              </a:rPr>
              <a:t>Reset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3035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4285F4"/>
                </a:solidFill>
                <a:latin typeface="Calibri"/>
              </a:rPr>
              <a:t>14K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60350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969696"/>
                </a:solidFill>
                <a:latin typeface="Calibri"/>
              </a:rPr>
              <a:t>Players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3035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4285F4"/>
                </a:solidFill>
                <a:latin typeface="Calibri"/>
              </a:rPr>
              <a:t>1.5M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60350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969696"/>
                </a:solidFill>
                <a:latin typeface="Calibri"/>
              </a:rPr>
              <a:t>Level Attempts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3035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4285F4"/>
                </a:solidFill>
                <a:latin typeface="Calibri"/>
              </a:rPr>
              <a:t>4 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0350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969696"/>
                </a:solidFill>
                <a:latin typeface="Calibri"/>
              </a:rPr>
              <a:t>Test Duration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34A853"/>
                </a:solidFill>
                <a:latin typeface="Calibri"/>
              </a:rPr>
              <a:t>+2.6%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higher success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657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285F4"/>
                </a:solidFill>
                <a:latin typeface="Calibri"/>
              </a:rPr>
              <a:t>Group A: 25.1%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657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A4335"/>
                </a:solidFill>
                <a:latin typeface="Calibri"/>
              </a:rPr>
              <a:t>Group B: 22.5%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4A853"/>
                </a:solidFill>
                <a:latin typeface="Calibri"/>
              </a:rPr>
              <a:t>p &lt; 0.001  •  Statistically Significant</a:t>
            </a:r>
          </a:p>
        </p:txBody>
      </p:sp>
      <p:pic>
        <p:nvPicPr>
          <p:cNvPr id="9" name="Picture 8" descr="Success Rate by 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931920" cy="141303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The Effect Over Time</a:t>
            </a:r>
          </a:p>
        </p:txBody>
      </p:sp>
      <p:pic>
        <p:nvPicPr>
          <p:cNvPr id="4" name="Picture 3" descr="Success Rate Over 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315200" cy="36359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371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69696"/>
                </a:solidFill>
                <a:latin typeface="Calibri"/>
              </a:rPr>
              <a:t>Key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01168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69696"/>
                </a:solidFill>
                <a:latin typeface="Calibri"/>
              </a:rPr>
              <a:t>Before: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2011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69696"/>
                </a:solidFill>
                <a:latin typeface="Calibri"/>
              </a:rPr>
              <a:t>Groups similar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46888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69696"/>
                </a:solidFill>
                <a:latin typeface="Calibri"/>
              </a:rPr>
              <a:t>During: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468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285F4"/>
                </a:solidFill>
                <a:latin typeface="Calibri"/>
              </a:rPr>
              <a:t>Clear separation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92608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69696"/>
                </a:solidFill>
                <a:latin typeface="Calibri"/>
              </a:rPr>
              <a:t>After: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853"/>
                </a:solidFill>
                <a:latin typeface="Calibri"/>
              </a:rPr>
              <a:t>Effect persists!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4A853"/>
                </a:solidFill>
                <a:latin typeface="Calibri"/>
              </a:rPr>
              <a:t>The effect persisted even after the boost was reset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Players Love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4285F4"/>
                </a:solidFill>
                <a:latin typeface="Calibri"/>
              </a:rPr>
              <a:t>+51%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more boost usage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657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285F4"/>
                </a:solidFill>
                <a:latin typeface="Calibri"/>
              </a:rPr>
              <a:t>Group A: 15.6%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657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A4335"/>
                </a:solidFill>
                <a:latin typeface="Calibri"/>
              </a:rPr>
              <a:t>Group B: 10.3%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69696"/>
                </a:solidFill>
                <a:latin typeface="Calibri"/>
              </a:rPr>
              <a:t>Players recognize the value and actively use the feature more</a:t>
            </a:r>
          </a:p>
        </p:txBody>
      </p:sp>
      <p:pic>
        <p:nvPicPr>
          <p:cNvPr id="9" name="Picture 8" descr="Boost Usage 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931920" cy="136401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The Full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05055"/>
                </a:solidFill>
                <a:latin typeface="Calibri"/>
              </a:rPr>
              <a:t>PRE-TEST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737360"/>
            <a:ext cx="2743200" cy="3200400"/>
          </a:xfrm>
          <a:prstGeom prst="rect">
            <a:avLst/>
          </a:prstGeom>
          <a:solidFill>
            <a:srgbClr val="2D2D32"/>
          </a:solidFill>
          <a:ln w="25400"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285F4"/>
                </a:solidFill>
                <a:latin typeface="Calibri"/>
              </a:rPr>
              <a:t>A: 29.1%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A4335"/>
                </a:solidFill>
                <a:latin typeface="Calibri"/>
              </a:rPr>
              <a:t>B: 30.1%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05055"/>
                </a:solidFill>
                <a:latin typeface="Calibri"/>
              </a:rPr>
              <a:t>-1.0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285F4"/>
                </a:solidFill>
                <a:latin typeface="Calibri"/>
              </a:rPr>
              <a:t>DURING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737360"/>
            <a:ext cx="2743200" cy="3200400"/>
          </a:xfrm>
          <a:prstGeom prst="rect">
            <a:avLst/>
          </a:prstGeom>
          <a:solidFill>
            <a:srgbClr val="2D2D32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103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285F4"/>
                </a:solidFill>
                <a:latin typeface="Calibri"/>
              </a:rPr>
              <a:t>A: 25.1%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743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A4335"/>
                </a:solidFill>
                <a:latin typeface="Calibri"/>
              </a:rPr>
              <a:t>B: 22.5%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657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285F4"/>
                </a:solidFill>
                <a:latin typeface="Calibri"/>
              </a:rPr>
              <a:t>+2.6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2801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A853"/>
                </a:solidFill>
                <a:latin typeface="Calibri"/>
              </a:rPr>
              <a:t>POST-TEST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737360"/>
            <a:ext cx="2743200" cy="3200400"/>
          </a:xfrm>
          <a:prstGeom prst="rect">
            <a:avLst/>
          </a:prstGeom>
          <a:solidFill>
            <a:srgbClr val="2D2D32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285F4"/>
                </a:solidFill>
                <a:latin typeface="Calibri"/>
              </a:rPr>
              <a:t>A: 22.3%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43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A4335"/>
                </a:solidFill>
                <a:latin typeface="Calibri"/>
              </a:rPr>
              <a:t>B: 19.7%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657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4A853"/>
                </a:solidFill>
                <a:latin typeface="Calibri"/>
              </a:rPr>
              <a:t>+2.6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A853"/>
                </a:solidFill>
                <a:latin typeface="Calibri"/>
              </a:rPr>
              <a:t>Effect persists = Learned behavior / Habit formation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The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4A853"/>
                </a:solidFill>
                <a:latin typeface="Calibri"/>
              </a:rPr>
              <a:t>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✓  +2.6% success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✓  Statistically proven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✓  Higher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✓  Lasting positive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188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A4335"/>
                </a:solidFill>
                <a:latin typeface="Calibri"/>
              </a:rPr>
              <a:t>AGAINST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✗  May reduce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377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✗  Boost dependency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926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✗  Unknown monetization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474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✗  Imperfect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188720"/>
            <a:ext cx="25400" cy="3200400"/>
          </a:xfrm>
          <a:prstGeom prst="rect">
            <a:avLst/>
          </a:prstGeom>
          <a:solidFill>
            <a:srgbClr val="505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69696"/>
                </a:solidFill>
                <a:latin typeface="Calibri"/>
              </a:rPr>
              <a:t>Benefits outweigh risks with proper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969696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34A853"/>
                </a:solidFill>
                <a:latin typeface="Calibri"/>
              </a:rPr>
              <a:t>ROLL IT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→  Proven improvement in player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7490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→  Higher engagement with boost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297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→  Lasting positive behavioral effects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029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69696"/>
                </a:solidFill>
                <a:latin typeface="Calibri"/>
              </a:rPr>
              <a:t>With Monitoring: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486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69696"/>
                </a:solidFill>
                <a:latin typeface="Calibri"/>
              </a:rPr>
              <a:t>Long-term retention  •  Monetization metrics  •  Difficulty balance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69696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114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4A853"/>
                </a:solidFill>
                <a:latin typeface="Calibri"/>
              </a:rPr>
              <a:t>+2.6%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754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69696"/>
                </a:solidFill>
                <a:latin typeface="Calibri"/>
              </a:rPr>
              <a:t>Success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114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4A853"/>
                </a:solidFill>
                <a:latin typeface="Calibri"/>
              </a:rPr>
              <a:t>+51%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754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69696"/>
                </a:solidFill>
                <a:latin typeface="Calibri"/>
              </a:rPr>
              <a:t>Engagement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114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4A853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754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69696"/>
                </a:solidFill>
                <a:latin typeface="Calibri"/>
              </a:rPr>
              <a:t>Significant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69696"/>
                </a:solidFill>
                <a:latin typeface="Calibri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