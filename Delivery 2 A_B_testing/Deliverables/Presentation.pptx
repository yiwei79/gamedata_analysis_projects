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F4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1"/>
  </p:normalViewPr>
  <p:slideViewPr>
    <p:cSldViewPr snapToGrid="0" snapToObjects="1">
      <p:cViewPr varScale="1">
        <p:scale>
          <a:sx n="103" d="100"/>
          <a:sy n="103" d="100"/>
        </p:scale>
        <p:origin x="200" y="464"/>
      </p:cViewPr>
      <p:guideLst>
        <p:guide orient="horz" pos="2160"/>
        <p:guide pos="2880"/>
      </p:guideLst>
    </p:cSldViewPr>
  </p:slideViewPr>
  <p:notesTextViewPr>
    <p:cViewPr>
      <p:scale>
        <a:sx n="95" d="100"/>
        <a:sy n="9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69EA12-FA4F-AB43-B68A-1CF278AD91AC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F64C75-E8BC-064F-B9E6-E7F54CDD3E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3354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F64C75-E8BC-064F-B9E6-E7F54CDD3E3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9041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12/6/25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6392" y="789503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dirty="0">
                <a:solidFill>
                  <a:srgbClr val="757575"/>
                </a:solidFill>
                <a:latin typeface="Calibri"/>
              </a:rPr>
              <a:t>Should We Roll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7734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dirty="0">
                <a:solidFill>
                  <a:srgbClr val="212121"/>
                </a:solidFill>
                <a:latin typeface="Calibri"/>
              </a:rPr>
              <a:t>The Stronger Boost?</a:t>
            </a:r>
          </a:p>
        </p:txBody>
      </p:sp>
      <p:sp>
        <p:nvSpPr>
          <p:cNvPr id="5" name="Oval 4"/>
          <p:cNvSpPr/>
          <p:nvPr/>
        </p:nvSpPr>
        <p:spPr>
          <a:xfrm>
            <a:off x="1920240" y="3144083"/>
            <a:ext cx="731520" cy="73152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760720" y="3144083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0" y="3144083"/>
            <a:ext cx="731520" cy="731520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96313" y="4119145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A/B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6793" y="4119145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77273" y="4119145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757575"/>
                </a:solidFill>
                <a:latin typeface="Calibri"/>
              </a:rPr>
              <a:t>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60720"/>
            <a:ext cx="1127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dirty="0">
                <a:solidFill>
                  <a:srgbClr val="757575"/>
                </a:solidFill>
                <a:latin typeface="Calibri"/>
              </a:rPr>
              <a:t>Game Data Analysis  |  December </a:t>
            </a:r>
            <a:r>
              <a:rPr lang="en-US" sz="1400" dirty="0">
                <a:solidFill>
                  <a:srgbClr val="757575"/>
                </a:solidFill>
                <a:latin typeface="Calibri"/>
              </a:rPr>
              <a:t>2025</a:t>
            </a:r>
            <a:endParaRPr sz="1400" b="0" dirty="0">
              <a:solidFill>
                <a:srgbClr val="757575"/>
              </a:solidFill>
              <a:latin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9F1A3-C31A-3676-0F88-A296CE8644E9}"/>
              </a:ext>
            </a:extLst>
          </p:cNvPr>
          <p:cNvSpPr txBox="1"/>
          <p:nvPr/>
        </p:nvSpPr>
        <p:spPr>
          <a:xfrm>
            <a:off x="4934312" y="5117068"/>
            <a:ext cx="23230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Yiwei 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280160"/>
            <a:ext cx="8503920" cy="10972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12121"/>
                </a:solidFill>
                <a:latin typeface="Calibri"/>
              </a:rPr>
              <a:t>"Some levels are too hard."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9659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— Player Feedback</a:t>
            </a:r>
          </a:p>
        </p:txBody>
      </p:sp>
      <p:sp>
        <p:nvSpPr>
          <p:cNvPr id="7" name="Oval 6"/>
          <p:cNvSpPr/>
          <p:nvPr/>
        </p:nvSpPr>
        <p:spPr>
          <a:xfrm>
            <a:off x="2286000" y="2926080"/>
            <a:ext cx="914400" cy="91440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:(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Frustration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657600" y="3200400"/>
            <a:ext cx="1097280" cy="365760"/>
          </a:xfrm>
          <a:prstGeom prst="rightArrow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303520" y="2926080"/>
            <a:ext cx="914400" cy="914400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Potential Churn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675120" y="3200400"/>
            <a:ext cx="1097280" cy="365760"/>
          </a:xfrm>
          <a:prstGeom prst="rightArrow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321040" y="2926080"/>
            <a:ext cx="914400" cy="91440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800" b="1">
                <a:solidFill>
                  <a:srgbClr val="FFFFFF"/>
                </a:solidFill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93192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Solution?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4754880"/>
            <a:ext cx="8503920" cy="1371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828800" y="4892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9D58"/>
                </a:solidFill>
                <a:latin typeface="Calibri"/>
              </a:rPr>
              <a:t>Hypothesis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21208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12121"/>
                </a:solidFill>
                <a:latin typeface="Calibri"/>
              </a:rPr>
              <a:t>A stronger boost will help players succeed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6235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757575"/>
                </a:solidFill>
                <a:latin typeface="Calibri"/>
              </a:rPr>
              <a:t>without breaking the game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52705" y="239722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Experiment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102841"/>
            <a:ext cx="4114800" cy="18288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606040" y="1377161"/>
            <a:ext cx="731520" cy="73152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00121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20161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Stronger Boost</a:t>
            </a:r>
          </a:p>
        </p:txBody>
      </p:sp>
      <p:sp>
        <p:nvSpPr>
          <p:cNvPr id="8" name="Oval 7"/>
          <p:cNvSpPr/>
          <p:nvPr/>
        </p:nvSpPr>
        <p:spPr>
          <a:xfrm>
            <a:off x="5577840" y="1828800"/>
            <a:ext cx="548640" cy="548640"/>
          </a:xfrm>
          <a:prstGeom prst="ellipse">
            <a:avLst/>
          </a:prstGeom>
          <a:solidFill>
            <a:srgbClr val="BDBDB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600" b="1">
                <a:solidFill>
                  <a:srgbClr val="212121"/>
                </a:solidFill>
              </a:rPr>
              <a:t>vs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0" y="1097280"/>
            <a:ext cx="4114800" cy="18288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366760" y="1371600"/>
            <a:ext cx="731520" cy="73152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9456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51460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Original 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200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757575"/>
                </a:solidFill>
                <a:latin typeface="Calibri"/>
              </a:rPr>
              <a:t>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657600"/>
            <a:ext cx="2926080" cy="8229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3703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12121"/>
                </a:solidFill>
                <a:latin typeface="Calibri"/>
              </a:rPr>
              <a:t>Jan - May 2020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Baseline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3657600"/>
            <a:ext cx="3657600" cy="82296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023360" y="370332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4285F4"/>
                </a:solidFill>
                <a:latin typeface="Calibri"/>
              </a:rPr>
              <a:t>June - Sept 2020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23360" y="3977639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285F4"/>
                </a:solidFill>
                <a:latin typeface="Calibri"/>
              </a:rPr>
              <a:t>A/B TEST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657600"/>
            <a:ext cx="2926080" cy="82296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63840" y="3703320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12121"/>
                </a:solidFill>
                <a:latin typeface="Calibri"/>
              </a:rPr>
              <a:t>Oct - Dec 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977639"/>
            <a:ext cx="2926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Reset &amp; Monitor</a:t>
            </a:r>
          </a:p>
        </p:txBody>
      </p:sp>
      <p:sp>
        <p:nvSpPr>
          <p:cNvPr id="23" name="Oval 22"/>
          <p:cNvSpPr/>
          <p:nvPr/>
        </p:nvSpPr>
        <p:spPr>
          <a:xfrm>
            <a:off x="1554480" y="4772333"/>
            <a:ext cx="1595258" cy="1245253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 dirty="0">
                <a:solidFill>
                  <a:srgbClr val="FFFFFF"/>
                </a:solidFill>
              </a:rPr>
              <a:t>14K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6161078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Players</a:t>
            </a:r>
          </a:p>
        </p:txBody>
      </p:sp>
      <p:sp>
        <p:nvSpPr>
          <p:cNvPr id="25" name="Oval 24"/>
          <p:cNvSpPr/>
          <p:nvPr/>
        </p:nvSpPr>
        <p:spPr>
          <a:xfrm>
            <a:off x="5042793" y="4789787"/>
            <a:ext cx="1632327" cy="1245253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>
                <a:solidFill>
                  <a:srgbClr val="FFFFFF"/>
                </a:solidFill>
              </a:rPr>
              <a:t>1.5M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6141307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Level Attempts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4789786"/>
            <a:ext cx="1737359" cy="1227799"/>
          </a:xfrm>
          <a:prstGeom prst="ellipse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3300" b="1" dirty="0">
                <a:solidFill>
                  <a:srgbClr val="FFFFFF"/>
                </a:solidFill>
              </a:rPr>
              <a:t>4 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6133893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dirty="0">
                <a:solidFill>
                  <a:srgbClr val="757575"/>
                </a:solidFill>
                <a:latin typeface="Calibri"/>
              </a:rPr>
              <a:t>Test Duration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09677" y="499794"/>
            <a:ext cx="34846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dirty="0">
                <a:solidFill>
                  <a:srgbClr val="212121"/>
                </a:solidFill>
                <a:latin typeface="Calibri"/>
              </a:rPr>
              <a:t>The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8865" y="1554479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dirty="0">
                <a:solidFill>
                  <a:srgbClr val="0F9D58"/>
                </a:solidFill>
                <a:latin typeface="Calibri"/>
              </a:rPr>
              <a:t>+2.6%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38865" y="2743199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dirty="0">
                <a:solidFill>
                  <a:srgbClr val="212121"/>
                </a:solidFill>
                <a:latin typeface="Calibri"/>
              </a:rPr>
              <a:t>higher success rate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313185" y="3474719"/>
            <a:ext cx="1828800" cy="9144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313185" y="356615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3185" y="384047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285F4"/>
                </a:solidFill>
                <a:latin typeface="Calibri"/>
              </a:rPr>
              <a:t>25.1%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4865" y="3474719"/>
            <a:ext cx="1828800" cy="9144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324865" y="356615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4865" y="3840479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B4437"/>
                </a:solidFill>
                <a:latin typeface="Calibri"/>
              </a:rPr>
              <a:t>22.5%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13185" y="4663439"/>
            <a:ext cx="3840480" cy="54864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13185" y="4754879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F9D58"/>
                </a:solidFill>
                <a:latin typeface="Calibri"/>
              </a:rPr>
              <a:t>p &lt; 0.001 — Statistically Significant</a:t>
            </a:r>
          </a:p>
        </p:txBody>
      </p:sp>
      <p:pic>
        <p:nvPicPr>
          <p:cNvPr id="14" name="Picture 13" descr="Success Rate by 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1794" y="499794"/>
            <a:ext cx="1641773" cy="5900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Effect Over Time</a:t>
            </a:r>
          </a:p>
        </p:txBody>
      </p:sp>
      <p:pic>
        <p:nvPicPr>
          <p:cNvPr id="4" name="Picture 3" descr="Success Rate Over 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914400"/>
            <a:ext cx="8830414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961120" y="1097280"/>
            <a:ext cx="2743200" cy="365760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61120" y="1280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12121"/>
                </a:solidFill>
                <a:latin typeface="Calibri"/>
              </a:rPr>
              <a:t>Key Observations</a:t>
            </a:r>
          </a:p>
        </p:txBody>
      </p:sp>
      <p:sp>
        <p:nvSpPr>
          <p:cNvPr id="7" name="Oval 6"/>
          <p:cNvSpPr/>
          <p:nvPr/>
        </p:nvSpPr>
        <p:spPr>
          <a:xfrm>
            <a:off x="9235440" y="182880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84080" y="182880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757575"/>
                </a:solidFill>
                <a:latin typeface="Calibri"/>
              </a:rPr>
              <a:t>Before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210312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rgbClr val="757575"/>
                </a:solidFill>
                <a:latin typeface="Calibri"/>
              </a:rPr>
              <a:t>Groups similar</a:t>
            </a:r>
          </a:p>
        </p:txBody>
      </p:sp>
      <p:sp>
        <p:nvSpPr>
          <p:cNvPr id="10" name="Oval 9"/>
          <p:cNvSpPr/>
          <p:nvPr/>
        </p:nvSpPr>
        <p:spPr>
          <a:xfrm>
            <a:off x="9235440" y="2651760"/>
            <a:ext cx="457200" cy="457200"/>
          </a:xfrm>
          <a:prstGeom prst="ellipse">
            <a:avLst/>
          </a:prstGeom>
          <a:solidFill>
            <a:srgbClr val="FBF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0" y="26517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757575"/>
                </a:solidFill>
                <a:latin typeface="Calibri"/>
              </a:rPr>
              <a:t>During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2926080"/>
            <a:ext cx="1645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chemeClr val="accent3">
                    <a:lumMod val="75000"/>
                  </a:schemeClr>
                </a:solidFill>
                <a:latin typeface="Calibri"/>
              </a:rPr>
              <a:t>Clear separation</a:t>
            </a:r>
          </a:p>
        </p:txBody>
      </p:sp>
      <p:sp>
        <p:nvSpPr>
          <p:cNvPr id="13" name="Oval 12"/>
          <p:cNvSpPr/>
          <p:nvPr/>
        </p:nvSpPr>
        <p:spPr>
          <a:xfrm>
            <a:off x="9235440" y="3474720"/>
            <a:ext cx="457200" cy="457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784080" y="347472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57575"/>
                </a:solidFill>
                <a:latin typeface="Calibri"/>
              </a:rPr>
              <a:t>After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3749040"/>
            <a:ext cx="16459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dirty="0">
                <a:solidFill>
                  <a:schemeClr val="accent1">
                    <a:lumMod val="75000"/>
                  </a:schemeClr>
                </a:solidFill>
                <a:latin typeface="Calibri"/>
              </a:rPr>
              <a:t>Effect persists!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4040" y="5486400"/>
            <a:ext cx="8503920" cy="7315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844040" y="562356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F9D58"/>
                </a:solidFill>
                <a:latin typeface="Calibri"/>
              </a:rPr>
              <a:t>The effect persisted even after the boost was reset!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4B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-3484605" y="468148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dirty="0">
                <a:solidFill>
                  <a:srgbClr val="212121"/>
                </a:solidFill>
                <a:latin typeface="Calibri"/>
              </a:rPr>
              <a:t>Players Love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95922" y="1382548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>
                <a:solidFill>
                  <a:srgbClr val="4285F4"/>
                </a:solidFill>
                <a:latin typeface="Calibri"/>
              </a:rPr>
              <a:t>+51%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5922" y="2571268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212121"/>
                </a:solidFill>
                <a:latin typeface="Calibri"/>
              </a:rPr>
              <a:t>more boost usage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70242" y="3302788"/>
            <a:ext cx="1828800" cy="91440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70242" y="339422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285F4"/>
                </a:solidFill>
                <a:latin typeface="Calibri"/>
              </a:rPr>
              <a:t>Group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70242" y="366854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285F4"/>
                </a:solidFill>
                <a:latin typeface="Calibri"/>
              </a:rPr>
              <a:t>15.6%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1922" y="3302788"/>
            <a:ext cx="1828800" cy="9144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81922" y="339422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DB4437"/>
                </a:solidFill>
                <a:latin typeface="Calibri"/>
              </a:rPr>
              <a:t>Group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1922" y="3668548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DB4437"/>
                </a:solidFill>
                <a:latin typeface="Calibri"/>
              </a:rPr>
              <a:t>10.3%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70242" y="4491508"/>
            <a:ext cx="3840480" cy="7315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270242" y="458294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Players recognize value 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70242" y="4857268"/>
            <a:ext cx="3840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actively use the feature more</a:t>
            </a:r>
          </a:p>
        </p:txBody>
      </p:sp>
      <p:pic>
        <p:nvPicPr>
          <p:cNvPr id="15" name="Picture 14" descr="Boost Usage R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690" y="468148"/>
            <a:ext cx="1741691" cy="604205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Full Picture</a:t>
            </a:r>
          </a:p>
        </p:txBody>
      </p:sp>
      <p:pic>
        <p:nvPicPr>
          <p:cNvPr id="4" name="Picture 3" descr="Success Rate by Test Peri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097" y="836844"/>
            <a:ext cx="5003932" cy="574683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229600" y="1097280"/>
            <a:ext cx="3474720" cy="11887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0" y="11887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757575"/>
                </a:solidFill>
                <a:latin typeface="Calibri"/>
              </a:rPr>
              <a:t>PRE-TEST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15544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29.1%  vs  B: 30.1%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874519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57575"/>
                </a:solidFill>
                <a:latin typeface="Calibri"/>
              </a:rPr>
              <a:t>-1.0 pp (similar baseline)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2468880"/>
            <a:ext cx="3474720" cy="1188720"/>
          </a:xfrm>
          <a:prstGeom prst="roundRect">
            <a:avLst/>
          </a:prstGeom>
          <a:solidFill>
            <a:srgbClr val="E3F2FD"/>
          </a:solidFill>
          <a:ln w="25400">
            <a:solidFill>
              <a:srgbClr val="4285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25603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4285F4"/>
                </a:solidFill>
                <a:latin typeface="Calibri"/>
              </a:rPr>
              <a:t>DURING 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9260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25.1%  vs  B: 22.5%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2461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4285F4"/>
                </a:solidFill>
                <a:latin typeface="Calibri"/>
              </a:rPr>
              <a:t>+2.6 pp improvement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3840480"/>
            <a:ext cx="3474720" cy="118872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39319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F9D58"/>
                </a:solidFill>
                <a:latin typeface="Calibri"/>
              </a:rPr>
              <a:t>POST-TEST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29768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2121"/>
                </a:solidFill>
                <a:latin typeface="Calibri"/>
              </a:rPr>
              <a:t>A: 22.3%  vs  B: 19.7%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617720"/>
            <a:ext cx="3474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F9D58"/>
                </a:solidFill>
                <a:latin typeface="Calibri"/>
              </a:rPr>
              <a:t>+2.6 pp (effect persists!)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99903" y="5445680"/>
            <a:ext cx="6334592" cy="630079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F4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63081" y="55828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dirty="0">
                <a:solidFill>
                  <a:srgbClr val="212121"/>
                </a:solidFill>
                <a:latin typeface="Calibri"/>
              </a:rPr>
              <a:t>Key Insight: Effect persists = Learned behavior / Habit formation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12121"/>
                </a:solidFill>
                <a:latin typeface="Calibri"/>
              </a:rPr>
              <a:t>The Trade-offs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97280"/>
            <a:ext cx="5029200" cy="41148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2834640" y="1280160"/>
            <a:ext cx="640080" cy="64008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F9D58"/>
                </a:solidFill>
                <a:latin typeface="Calibri"/>
              </a:rPr>
              <a:t>FOR ROLLOUT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560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+2.6% success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Statistically proven (p &lt; 0.001)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51% higher 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9319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Lasting positive effect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097280"/>
            <a:ext cx="5029200" cy="41148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DB4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8503920" y="1280160"/>
            <a:ext cx="640080" cy="640080"/>
          </a:xfrm>
          <a:prstGeom prst="ellipse">
            <a:avLst/>
          </a:prstGeom>
          <a:solidFill>
            <a:srgbClr val="DB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1900" b="1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0116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DB4437"/>
                </a:solidFill>
                <a:latin typeface="Calibri"/>
              </a:rPr>
              <a:t>AGAINST ROLLOUT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5603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May reduce game challenge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0175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Boost dependency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34747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Unknown monetization impact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931920"/>
            <a:ext cx="4114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→  Small baseline difference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28800" y="5486400"/>
            <a:ext cx="8503920" cy="6400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828800" y="5596128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Benefits significantly outweigh risks with proper monitoring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757575"/>
                </a:solidFill>
                <a:latin typeface="Calibri"/>
              </a:rPr>
              <a:t>Recommendation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1188720"/>
            <a:ext cx="8503920" cy="137160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828800" y="14630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0F9D58"/>
                </a:solidFill>
                <a:latin typeface="Calibri"/>
              </a:rPr>
              <a:t>ROLL IT OUT</a:t>
            </a:r>
          </a:p>
        </p:txBody>
      </p:sp>
      <p:sp>
        <p:nvSpPr>
          <p:cNvPr id="6" name="Oval 5"/>
          <p:cNvSpPr/>
          <p:nvPr/>
        </p:nvSpPr>
        <p:spPr>
          <a:xfrm>
            <a:off x="237744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Proven
Improvement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+2.6% success</a:t>
            </a:r>
          </a:p>
        </p:txBody>
      </p:sp>
      <p:sp>
        <p:nvSpPr>
          <p:cNvPr id="9" name="Oval 8"/>
          <p:cNvSpPr/>
          <p:nvPr/>
        </p:nvSpPr>
        <p:spPr>
          <a:xfrm>
            <a:off x="585216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Higher
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+51% boost use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0" y="2926080"/>
            <a:ext cx="731520" cy="731520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0"/>
              </a:spcBef>
            </a:pPr>
            <a:r>
              <a:rPr sz="2200" b="1">
                <a:solidFill>
                  <a:srgbClr val="FFFFFF"/>
                </a:solidFill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384048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12121"/>
                </a:solidFill>
                <a:latin typeface="Calibri"/>
              </a:rPr>
              <a:t>Lasting
Effect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44805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Persists after reset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5029200"/>
            <a:ext cx="9418320" cy="109728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71600" y="516636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757575"/>
                </a:solidFill>
                <a:latin typeface="Calibri"/>
              </a:rPr>
              <a:t>With Monitoring: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4864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212121"/>
                </a:solidFill>
                <a:latin typeface="Calibri"/>
              </a:rPr>
              <a:t>Long-term retention  •  Monetization metrics  •  Difficulty balance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dirty="0">
                <a:solidFill>
                  <a:srgbClr val="212121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7" y="2507902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757575"/>
                </a:solidFill>
                <a:latin typeface="Calibri"/>
              </a:rPr>
              <a:t>Summary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2860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9D58"/>
                </a:solidFill>
                <a:latin typeface="Calibri"/>
              </a:rPr>
              <a:t>+2.6%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Success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285F4"/>
                </a:solidFill>
                <a:latin typeface="Calibri"/>
              </a:rPr>
              <a:t>+51%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Engagement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0" y="3200400"/>
            <a:ext cx="2286000" cy="1645920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0" y="338328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9D58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4114800"/>
            <a:ext cx="228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dirty="0">
                <a:solidFill>
                  <a:srgbClr val="757575"/>
                </a:solidFill>
                <a:latin typeface="Calibri"/>
              </a:rPr>
              <a:t>Significant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48640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757575"/>
                </a:solidFill>
                <a:latin typeface="Calibri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346</Words>
  <Application>Microsoft Macintosh PowerPoint</Application>
  <PresentationFormat>Widescreen</PresentationFormat>
  <Paragraphs>114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yiwei ye</cp:lastModifiedBy>
  <cp:revision>3</cp:revision>
  <dcterms:created xsi:type="dcterms:W3CDTF">2013-01-27T09:14:16Z</dcterms:created>
  <dcterms:modified xsi:type="dcterms:W3CDTF">2025-12-06T16:59:03Z</dcterms:modified>
  <cp:category/>
</cp:coreProperties>
</file>