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8F9FA"/>
            </a:gs>
            <a:gs pos="100000">
              <a:srgbClr val="FFFFFF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2C3E50"/>
                </a:solidFill>
                <a:latin typeface="Calibri"/>
              </a:defRPr>
            </a:pPr>
            <a:r>
              <a:t>Game Analytics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3498DB"/>
                </a:solidFill>
                <a:latin typeface="Calibri"/>
              </a:defRPr>
            </a:pPr>
            <a:r>
              <a:t>KPI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12121"/>
                </a:solidFill>
                <a:latin typeface="Calibri"/>
              </a:defRPr>
            </a:pPr>
            <a:r>
              <a:t>Yiwei Ye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F8C8D"/>
                </a:solidFill>
                <a:latin typeface="Calibri"/>
              </a:defRPr>
            </a:pPr>
            <a:r>
              <a:t>KPIs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1188720" cy="914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1887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Unity</a:t>
            </a:r>
          </a:p>
          <a:p>
            <a:r>
              <a:t>Simulator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6596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03120" y="2286000"/>
            <a:ext cx="1188720" cy="914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2514600"/>
            <a:ext cx="11887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Analytics</a:t>
            </a:r>
          </a:p>
          <a:p>
            <a:r>
              <a:t>Manager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33756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0" y="2286000"/>
            <a:ext cx="1188720" cy="914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514600"/>
            <a:ext cx="11887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PHP</a:t>
            </a:r>
          </a:p>
          <a:p>
            <a:r>
              <a:t>Backend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70916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2286000"/>
            <a:ext cx="1188720" cy="914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14600"/>
            <a:ext cx="11887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MySQL</a:t>
            </a:r>
          </a:p>
          <a:p>
            <a:r>
              <a:t>Database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8076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2286000"/>
            <a:ext cx="1188720" cy="9144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514600"/>
            <a:ext cx="11887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R</a:t>
            </a:r>
          </a:p>
          <a:p>
            <a:r>
              <a:t>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Non-intrusive event subscription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Async coroutines (Unity → PHP)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Prepared statements (SQL injection prevention)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Normalized database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Database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1828800" cy="14173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t>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6459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user_id (PK)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username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country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age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gender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2011680"/>
            <a:ext cx="182880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20574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t>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37744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session_id (PK)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user_id (FK)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start_time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end_time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011680"/>
            <a:ext cx="182880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0" y="20574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t>purchases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37744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purchase_id (PK)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user_id (FK)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item_id (FK)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389120"/>
            <a:ext cx="1828800" cy="11887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4348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t>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475488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item_id (PK)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item_name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price</a:t>
            </a:r>
          </a:p>
          <a:p>
            <a:pPr>
              <a:defRPr sz="1100">
                <a:solidFill>
                  <a:srgbClr val="212121"/>
                </a:solidFill>
                <a:latin typeface="Courier New"/>
              </a:defRPr>
            </a:pPr>
            <a:r>
              <a:t>category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669280"/>
            <a:ext cx="6400800" cy="5486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4 Tables | 3 Foreign Keys | 5 Indexes | 99.99% Data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Data Quality Metrics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1,007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Total 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12,611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Total Sessions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Purchases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  <a:latin typeface="Calibri"/>
              </a:defRPr>
            </a:pPr>
            <a:r>
              <a:t>364 days coverage  |  51 countries  |  Zero orphaned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720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Full Year 2022 - Complete temporal coverage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5/5 Data Quality Score - Perfect referential integrity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99.99% Complete Sessions - Robust data collection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Global Reach - 51 countries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User Engagement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0" y="1645920"/>
            <a:ext cx="201168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0" y="192024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9.1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7432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Mean DAU</a:t>
            </a:r>
          </a:p>
          <a:p>
            <a:r>
              <a:t>[8.6-9.6]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3108960"/>
            <a:ext cx="201168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338328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88.8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2062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Mean MAU</a:t>
            </a:r>
          </a:p>
          <a:p>
            <a:r>
              <a:t>[82.8-94.7]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4572000"/>
            <a:ext cx="201168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484632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10.2%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6692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Stickiness</a:t>
            </a:r>
          </a:p>
          <a:p>
            <a:r>
              <a:t>Ratio</a:t>
            </a:r>
          </a:p>
        </p:txBody>
      </p:sp>
      <p:pic>
        <p:nvPicPr>
          <p:cNvPr id="12" name="Picture 11" descr="01_dau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5486400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t>Stable engagement with 12.5 sessions per user throughout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Retention Excellence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371600"/>
            <a:ext cx="5486400" cy="822960"/>
          </a:xfrm>
          <a:prstGeom prst="roundRect">
            <a:avLst/>
          </a:prstGeom>
          <a:solidFill>
            <a:srgbClr val="2ECC71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508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65.6% D7 Retention - 3-4x Industry Average</a:t>
            </a:r>
          </a:p>
        </p:txBody>
      </p:sp>
      <p:pic>
        <p:nvPicPr>
          <p:cNvPr id="5" name="Picture 4" descr="03_reten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560320"/>
            <a:ext cx="640080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t>Exceptional product-market fit - users who try, stay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Monetization Success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164592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$10.86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ARPU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463040"/>
            <a:ext cx="164592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73736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$21.07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5603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ARPPU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463040"/>
            <a:ext cx="164592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73736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51.5%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5603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Conversion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463040"/>
            <a:ext cx="164592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73736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$10.9K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5603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Total Revenue</a:t>
            </a:r>
          </a:p>
        </p:txBody>
      </p:sp>
      <p:pic>
        <p:nvPicPr>
          <p:cNvPr id="15" name="Picture 14" descr="04_revenue_by_i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3840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t>Diamond Pack ($49.99) drives 62% of revenue - premium monetization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High-Value Demographics</a:t>
            </a:r>
          </a:p>
        </p:txBody>
      </p:sp>
      <p:pic>
        <p:nvPicPr>
          <p:cNvPr id="3" name="Picture 2" descr="08_country_ag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5029200" cy="3017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943600" y="1645920"/>
            <a:ext cx="2743200" cy="43891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3498DB"/>
                </a:solidFill>
                <a:latin typeface="Calibri"/>
              </a:defRPr>
            </a:pPr>
            <a:r>
              <a:t>Top Markets:</a:t>
            </a:r>
          </a:p>
          <a:p>
            <a:pPr>
              <a:spcAft>
                <a:spcPts val="6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Suriname: $39.19 ARPU</a:t>
            </a:r>
          </a:p>
          <a:p>
            <a:pPr>
              <a:spcAft>
                <a:spcPts val="6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Ireland: $22.98 ARPU</a:t>
            </a:r>
          </a:p>
          <a:p>
            <a:pPr>
              <a:spcAft>
                <a:spcPts val="600"/>
              </a:spcAft>
              <a:defRPr sz="14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b="1" sz="1600">
                <a:solidFill>
                  <a:srgbClr val="3498DB"/>
                </a:solidFill>
                <a:latin typeface="Calibri"/>
              </a:defRPr>
            </a:pPr>
            <a:r>
              <a:t>Best Age Group:</a:t>
            </a:r>
          </a:p>
          <a:p>
            <a:pPr>
              <a:spcAft>
                <a:spcPts val="6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• 18-25: $13.38 ARPU</a:t>
            </a:r>
          </a:p>
          <a:p>
            <a:pPr>
              <a:spcAft>
                <a:spcPts val="600"/>
              </a:spcAft>
              <a:defRPr sz="1400">
                <a:solidFill>
                  <a:srgbClr val="212121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b="1" sz="1600">
                <a:solidFill>
                  <a:srgbClr val="3498DB"/>
                </a:solidFill>
                <a:latin typeface="Calibri"/>
              </a:defRPr>
            </a:pPr>
            <a:r>
              <a:t>High-Value Profile:</a:t>
            </a:r>
          </a:p>
          <a:p>
            <a:pPr>
              <a:spcAft>
                <a:spcPts val="600"/>
              </a:spcAft>
              <a:defRPr sz="1400">
                <a:solidFill>
                  <a:srgbClr val="212121"/>
                </a:solidFill>
                <a:latin typeface="Calibri"/>
              </a:defRPr>
            </a:pPr>
            <a:r>
              <a:t>Ireland + 18-25 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  <a:latin typeface="Calibri"/>
              </a:defRPr>
            </a:pPr>
            <a:r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6949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65.6% retention → Protect core gameplay loop (3-4x industry avg)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51.5% conversion → Focus on ARPPU growth, not conversion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Diamond Pack dominance → Expand $50-$100 premium tier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t>Geographic winners → Target Ireland, Suriname, Brazil for UA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5303520"/>
            <a:ext cx="6400800" cy="914400"/>
          </a:xfrm>
          <a:prstGeom prst="roundRect">
            <a:avLst/>
          </a:prstGeom>
          <a:solidFill>
            <a:srgbClr val="E67E22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5486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Action: Scale premium monetization for +31% revenue potential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8F9FA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Evaluation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t>Gather &amp; Store (50%)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Normalized DB with proper indexes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Non-intrusive async data transmission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6032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SOLID principles &amp; modular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71800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t>Analytics (30%)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33756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Correct KPI calculations with 95%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61188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Statistical rigor &amp; hypothesis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862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Efficient, reusable SQL 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297680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t>Reporting (20%)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66344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Clear visualizations &amp;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6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Professional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1208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t>✓ Actionable business recommendations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669280"/>
            <a:ext cx="6400800" cy="6400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Calibri"/>
              </a:defRPr>
            </a:pPr>
            <a:r>
              <a:t>Production-ready analytics pipeline converting data into $3K+ revenue opportunities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64008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7F8C8D"/>
                </a:solidFill>
                <a:latin typeface="Calibri"/>
              </a:defRPr>
            </a:pPr>
            <a:r>
              <a:t>Thank you | Questions?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