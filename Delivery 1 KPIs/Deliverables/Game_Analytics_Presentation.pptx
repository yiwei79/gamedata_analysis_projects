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55"/>
  </p:normalViewPr>
  <p:slideViewPr>
    <p:cSldViewPr snapToGrid="0" snapToObjects="1">
      <p:cViewPr varScale="1">
        <p:scale>
          <a:sx n="96" d="100"/>
          <a:sy n="96" d="100"/>
        </p:scale>
        <p:origin x="184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9FA"/>
            </a:gs>
            <a:gs pos="100000">
              <a:srgbClr val="FFFFF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C3E50"/>
                </a:solidFill>
                <a:latin typeface="Calibri"/>
              </a:defRPr>
            </a:pPr>
            <a:r>
              <a:t>Game Analytics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498DB"/>
                </a:solidFill>
                <a:latin typeface="Calibri"/>
              </a:defRPr>
            </a:pPr>
            <a:r>
              <a:t>KPI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  <a:latin typeface="Calibri"/>
              </a:defRPr>
            </a:pPr>
            <a:r>
              <a:t>Yiwei 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  <a:latin typeface="Calibri"/>
              </a:defRPr>
            </a:pPr>
            <a:r>
              <a:t>KPIs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188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188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Unity</a:t>
            </a:r>
          </a:p>
          <a:p>
            <a:r>
              <a:t>Simulator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65960" y="269748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03120" y="2286000"/>
            <a:ext cx="1188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2514600"/>
            <a:ext cx="1188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Analytics</a:t>
            </a:r>
          </a:p>
          <a:p>
            <a:r>
              <a:t>Manager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37560" y="269748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2286000"/>
            <a:ext cx="1188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1188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PHP</a:t>
            </a:r>
          </a:p>
          <a:p>
            <a:r>
              <a:t>Backend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09160" y="269748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2286000"/>
            <a:ext cx="1188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514600"/>
            <a:ext cx="1188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MySQL</a:t>
            </a:r>
          </a:p>
          <a:p>
            <a:r>
              <a:rPr dirty="0"/>
              <a:t>Database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80760" y="2697480"/>
            <a:ext cx="320040" cy="914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1188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514600"/>
            <a:ext cx="1188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R</a:t>
            </a:r>
          </a:p>
          <a:p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Non-intrusive event subscription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Async coroutines (Unity → PHP)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Prepared statements (SQL injection prevention)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Normalized database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274320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848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423160"/>
            <a:ext cx="2468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 err="1"/>
              <a:t>user_id</a:t>
            </a:r>
            <a:r>
              <a:rPr dirty="0"/>
              <a:t>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username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country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age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rPr dirty="0"/>
              <a:t>gender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011680"/>
            <a:ext cx="27432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20848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42316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session_id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user_id (FK)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start_time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end_time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27432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187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purchases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5262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purchase_id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user_id (FK)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item_id (FK)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114800"/>
            <a:ext cx="274320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4187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5262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item_id (PK)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item_name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price</a:t>
            </a:r>
          </a:p>
          <a:p>
            <a:pPr>
              <a:defRPr sz="1200">
                <a:solidFill>
                  <a:srgbClr val="212121"/>
                </a:solidFill>
                <a:latin typeface="Courier New"/>
              </a:defRPr>
            </a:pPr>
            <a:r>
              <a:t>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669280"/>
            <a:ext cx="6400800" cy="5486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4 Tables | 3 Foreign Keys | 5 Indexes | 99.99% 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Data Quality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1,007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Total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828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12,611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Total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1828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1,272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364 days coverage  |  51 countries  |  Zero orphaned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Full Year 2022 - Complete temporal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5/5 Data Quality Score - Perfect referential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99.99% Complete Sessions - Robust data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Global Reach - 51 countries represented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User Engagement</a:t>
            </a:r>
          </a:p>
        </p:txBody>
      </p:sp>
      <p:pic>
        <p:nvPicPr>
          <p:cNvPr id="3" name="Picture 2" descr="01_dau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4015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64592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92240" y="1920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9.1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2166" y="2449286"/>
            <a:ext cx="10347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Mean DAU</a:t>
            </a:r>
          </a:p>
          <a:p>
            <a:pPr algn="ctr"/>
            <a:r>
              <a:rPr lang="en-US" dirty="0"/>
              <a:t> </a:t>
            </a:r>
            <a:r>
              <a:rPr dirty="0"/>
              <a:t>[8.6-9.6]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33832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88.8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9724" y="3931920"/>
            <a:ext cx="1319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Mean MAU</a:t>
            </a:r>
          </a:p>
          <a:p>
            <a:pPr algn="ctr"/>
            <a:r>
              <a:rPr lang="en-US" dirty="0"/>
              <a:t>  </a:t>
            </a:r>
            <a:r>
              <a:rPr dirty="0"/>
              <a:t>[82.8-94.7]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572000"/>
            <a:ext cx="219456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846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10.2%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2923" y="5486400"/>
            <a:ext cx="8931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rPr dirty="0"/>
              <a:t>Stickiness</a:t>
            </a:r>
          </a:p>
          <a:p>
            <a:pPr algn="ctr"/>
            <a:r>
              <a:rPr dirty="0"/>
              <a:t>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Stable engagement with 12.5 sessions per user throughout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Retention Excellence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18" y="1371600"/>
            <a:ext cx="6400799" cy="731520"/>
          </a:xfrm>
          <a:prstGeom prst="roundRect">
            <a:avLst/>
          </a:prstGeom>
          <a:solidFill>
            <a:srgbClr val="2ECC71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19" y="1463040"/>
            <a:ext cx="64007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65.6% D7 Retention - 3-4x Industry Average</a:t>
            </a:r>
          </a:p>
        </p:txBody>
      </p:sp>
      <p:pic>
        <p:nvPicPr>
          <p:cNvPr id="5" name="Picture 4" descr="03_reten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18" y="2309634"/>
            <a:ext cx="64008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rPr dirty="0"/>
              <a:t>Exceptional product-market fit - users who try,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Monetization Success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$10.86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ARPU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$21.07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ARPPU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51.5%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1554480" cy="10058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$10.9K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Total Revenue</a:t>
            </a:r>
          </a:p>
        </p:txBody>
      </p:sp>
      <p:pic>
        <p:nvPicPr>
          <p:cNvPr id="15" name="Picture 14" descr="04_revenue_by_i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017520"/>
            <a:ext cx="5486400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Diamond Pack ($49.99) drives 62% of revenue - premium monetization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High-Value Demographics</a:t>
            </a:r>
          </a:p>
        </p:txBody>
      </p:sp>
      <p:pic>
        <p:nvPicPr>
          <p:cNvPr id="3" name="Picture 2" descr="08_country_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03520" cy="31821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35040" y="1645920"/>
            <a:ext cx="2834640" cy="4480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CF0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722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t>Top Markets: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Suriname: $39.19 ARPU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Ireland: $22.98 ARPU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t>Best Age Group: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18-25: $13.38 ARPU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t>High-Value Profile: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Ireland + 18-25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65.6% retention → Protect core gameplay loop (3-4x industry avg)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51.5% conversion → Focus on ARPPU growth, not conversion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Diamond Pack dominance → Expand $50-$100 premium tier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rPr dirty="0"/>
              <a:t>Geographic winners → Target Ireland, Suriname, Brazil for UA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599" y="5486400"/>
            <a:ext cx="6531429" cy="9144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86000"/>
                  <a:lumOff val="14000"/>
                </a:schemeClr>
              </a:gs>
              <a:gs pos="99000">
                <a:schemeClr val="accent4">
                  <a:lumMod val="52000"/>
                  <a:lumOff val="4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noFill/>
          </a:ln>
          <a:effectLst>
            <a:outerShdw blurRad="535990" sx="98000" sy="98000" algn="ctr" rotWithShape="0">
              <a:prstClr val="black">
                <a:alpha val="18347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5577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Action: Scale premium monetization for +31% revenue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8F9F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Evaluation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rPr dirty="0"/>
              <a:t>Gather &amp; Store (50%)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t>✓ Normalized DB with proper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29968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t>✓ Non-intrusive async data transmission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22576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t>✓ SOLID principles &amp; modular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24912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t>Analytics (30%)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90672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/>
              <a:t>✓ Correct KPI calculations with 95%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t>✓ Statistical rigor &amp; hypothesis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75888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t>✓ Efficient, reusable SQL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78224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  <a:latin typeface="Calibri"/>
              </a:defRPr>
            </a:pPr>
            <a:r>
              <a:t>Reporting (20%)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43984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t>✓ Clear visualizations &amp;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736592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/>
              <a:t>✓ Professional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029200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CC71"/>
                </a:solidFill>
                <a:latin typeface="Calibri"/>
              </a:defRPr>
            </a:pPr>
            <a:r>
              <a:rPr dirty="0"/>
              <a:t>✓ Actionable business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599" y="5519850"/>
            <a:ext cx="6185807" cy="761207"/>
          </a:xfrm>
          <a:prstGeom prst="roundRect">
            <a:avLst/>
          </a:prstGeom>
          <a:gradFill flip="none" rotWithShape="1">
            <a:gsLst>
              <a:gs pos="69000">
                <a:srgbClr val="CEDCE0"/>
              </a:gs>
              <a:gs pos="100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rnd">
            <a:noFill/>
          </a:ln>
          <a:effectLst>
            <a:outerShdw blurRad="386222" dir="3000000" algn="tl" rotWithShape="0">
              <a:prstClr val="black">
                <a:alpha val="14955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6593" y="5577287"/>
            <a:ext cx="5970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dirty="0"/>
              <a:t>Production-ready analytics pipeline converting data into $3K+ revenue 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F8C8D"/>
                </a:solidFill>
                <a:latin typeface="Calibri"/>
              </a:defRPr>
            </a:pPr>
            <a:r>
              <a:rPr dirty="0"/>
              <a:t>Thank you |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432</Words>
  <Application>Microsoft Macintosh PowerPoint</Application>
  <PresentationFormat>On-screen Show (4:3)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yiwei ye</cp:lastModifiedBy>
  <cp:revision>7</cp:revision>
  <dcterms:created xsi:type="dcterms:W3CDTF">2013-01-27T09:14:16Z</dcterms:created>
  <dcterms:modified xsi:type="dcterms:W3CDTF">2025-10-31T18:57:47Z</dcterms:modified>
  <cp:category/>
</cp:coreProperties>
</file>