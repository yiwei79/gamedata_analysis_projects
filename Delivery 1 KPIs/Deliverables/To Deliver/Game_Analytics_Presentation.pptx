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F5FF"/>
    <a:srgbClr val="F1FBFF"/>
    <a:srgbClr val="EBF9DA"/>
    <a:srgbClr val="D2DEC3"/>
    <a:srgbClr val="FFFDE0"/>
    <a:srgbClr val="F9FFEF"/>
    <a:srgbClr val="F5F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74"/>
    <p:restoredTop sz="94655"/>
  </p:normalViewPr>
  <p:slideViewPr>
    <p:cSldViewPr snapToGrid="0" snapToObjects="1">
      <p:cViewPr>
        <p:scale>
          <a:sx n="90" d="100"/>
          <a:sy n="90" d="100"/>
        </p:scale>
        <p:origin x="656" y="7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55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0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50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583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555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94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6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511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107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24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61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325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2C3E50"/>
                </a:solidFill>
                <a:latin typeface="Calibri"/>
              </a:defRPr>
            </a:pPr>
            <a:r>
              <a:rPr dirty="0"/>
              <a:t>Game Analytics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3498DB"/>
                </a:solidFill>
                <a:latin typeface="Calibri"/>
              </a:defRPr>
            </a:pPr>
            <a:r>
              <a:t>KPI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12121"/>
                </a:solidFill>
                <a:latin typeface="Calibri"/>
              </a:defRPr>
            </a:pPr>
            <a:r>
              <a:t>Yiwei Ye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F8C8D"/>
                </a:solidFill>
                <a:latin typeface="Calibri"/>
              </a:defRPr>
            </a:pPr>
            <a:r>
              <a:t>KPIs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C6FA2A3-5E89-FC2E-736F-2AEC5929A28C}"/>
              </a:ext>
            </a:extLst>
          </p:cNvPr>
          <p:cNvSpPr/>
          <p:nvPr/>
        </p:nvSpPr>
        <p:spPr>
          <a:xfrm>
            <a:off x="704088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BEE875B-1D82-F136-6EE6-F3881BF35BA8}"/>
              </a:ext>
            </a:extLst>
          </p:cNvPr>
          <p:cNvSpPr/>
          <p:nvPr/>
        </p:nvSpPr>
        <p:spPr>
          <a:xfrm>
            <a:off x="546354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FDD2CF4-19E7-8715-B6AF-6392F014021A}"/>
              </a:ext>
            </a:extLst>
          </p:cNvPr>
          <p:cNvSpPr/>
          <p:nvPr/>
        </p:nvSpPr>
        <p:spPr>
          <a:xfrm>
            <a:off x="394335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6305CF9-279A-E36A-52CC-35359FFF9C26}"/>
              </a:ext>
            </a:extLst>
          </p:cNvPr>
          <p:cNvSpPr/>
          <p:nvPr/>
        </p:nvSpPr>
        <p:spPr>
          <a:xfrm>
            <a:off x="2457450" y="2258347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0677" y="2450813"/>
            <a:ext cx="108760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Unity</a:t>
            </a:r>
          </a:p>
          <a:p>
            <a:pPr algn="ctr"/>
            <a:r>
              <a:rPr dirty="0"/>
              <a:t>Simulator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4884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49477" y="2450813"/>
            <a:ext cx="1027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Analytics</a:t>
            </a:r>
          </a:p>
          <a:p>
            <a:pPr algn="ctr"/>
            <a:r>
              <a:rPr dirty="0"/>
              <a:t>Manager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2331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50749" y="2450813"/>
            <a:ext cx="973921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PHP</a:t>
            </a:r>
          </a:p>
          <a:p>
            <a:pPr algn="ctr"/>
            <a:r>
              <a:rPr dirty="0"/>
              <a:t>Backend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109210" y="274320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63540" y="2514600"/>
            <a:ext cx="118872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MySQL</a:t>
            </a:r>
          </a:p>
          <a:p>
            <a:pPr algn="ctr"/>
            <a:r>
              <a:rPr dirty="0"/>
              <a:t>Database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5120" y="2715547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66458" y="2450813"/>
            <a:ext cx="93756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R</a:t>
            </a:r>
          </a:p>
          <a:p>
            <a:pPr algn="ctr"/>
            <a:r>
              <a:rPr dirty="0"/>
              <a:t>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Non-intrusive event subscription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Async coroutines (Unity → PHP)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Prepared statements (SQL injection prevention)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Normalized database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Database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819025"/>
            <a:ext cx="2743200" cy="1508760"/>
          </a:xfrm>
          <a:prstGeom prst="roundRect">
            <a:avLst/>
          </a:prstGeom>
          <a:solidFill>
            <a:srgbClr val="FFFFFF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919951">
              <a:schemeClr val="accent6">
                <a:lumMod val="20000"/>
                <a:lumOff val="80000"/>
                <a:alpha val="5000"/>
              </a:schemeClr>
            </a:glow>
            <a:outerShdw blurRad="1003435" dist="38100" dir="2700000" algn="tl" rotWithShape="0">
              <a:prstClr val="black">
                <a:alpha val="3886"/>
              </a:prstClr>
            </a:outerShdw>
            <a:softEdge rad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99476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2107936"/>
            <a:ext cx="1765227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user_id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username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country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age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g</a:t>
            </a:r>
            <a:r>
              <a:rPr dirty="0"/>
              <a:t>ender</a:t>
            </a:r>
            <a:endParaRPr lang="en-US"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registration_date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5029200" y="1819025"/>
            <a:ext cx="2743200" cy="1508760"/>
          </a:xfrm>
          <a:prstGeom prst="roundRect">
            <a:avLst/>
          </a:prstGeom>
          <a:solidFill>
            <a:srgbClr val="FFFFF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820539">
              <a:schemeClr val="accent6">
                <a:lumMod val="20000"/>
                <a:lumOff val="80000"/>
                <a:alpha val="6000"/>
              </a:schemeClr>
            </a:glow>
            <a:outerShdw blurRad="1058925" dist="38100" dir="2700000" algn="tl" rotWithShape="0">
              <a:prstClr val="black">
                <a:alpha val="2896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180485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2107936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session_id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user_id</a:t>
            </a:r>
            <a:r>
              <a:rPr dirty="0"/>
              <a:t>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start_time</a:t>
            </a:r>
            <a:endParaRPr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end_time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1371600" y="3922145"/>
            <a:ext cx="2743200" cy="1280160"/>
          </a:xfrm>
          <a:prstGeom prst="roundRect">
            <a:avLst/>
          </a:prstGeom>
          <a:solidFill>
            <a:srgbClr val="FFFFFF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635000">
              <a:schemeClr val="accent6">
                <a:lumMod val="20000"/>
                <a:lumOff val="80000"/>
                <a:alpha val="5000"/>
              </a:schemeClr>
            </a:glow>
            <a:outerShdw blurRad="1138143" dist="38100" dir="2700000" algn="tl" rotWithShape="0">
              <a:prstClr val="black">
                <a:alpha val="4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92214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70301"/>
            <a:ext cx="1672253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purchase_id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user_id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item_id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amount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purchase_date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5029200" y="3922145"/>
            <a:ext cx="2743200" cy="1280160"/>
          </a:xfrm>
          <a:prstGeom prst="roundRect">
            <a:avLst/>
          </a:prstGeom>
          <a:solidFill>
            <a:srgbClr val="FFFFFF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635000">
              <a:schemeClr val="accent6">
                <a:lumMod val="20000"/>
                <a:lumOff val="80000"/>
                <a:alpha val="5000"/>
              </a:schemeClr>
            </a:glow>
            <a:outerShdw blurRad="1030412" dist="38100" dir="2700000" algn="tl" rotWithShape="0">
              <a:prstClr val="black">
                <a:alpha val="5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0" y="392214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4222636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item_id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item_name</a:t>
            </a:r>
            <a:endParaRPr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price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category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669280"/>
            <a:ext cx="6400800" cy="548640"/>
          </a:xfrm>
          <a:prstGeom prst="roundRect">
            <a:avLst/>
          </a:prstGeom>
          <a:solidFill>
            <a:srgbClr val="F8F9FA"/>
          </a:solidFill>
          <a:ln w="6350"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outerShdw blurRad="363631" dist="38100" dir="2700000" algn="tl" rotWithShape="0">
              <a:prstClr val="black">
                <a:alpha val="10422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64008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rPr dirty="0"/>
              <a:t>4 Tables | 3 Foreign Keys | </a:t>
            </a:r>
            <a:r>
              <a:rPr lang="en-US" dirty="0"/>
              <a:t>4 - </a:t>
            </a:r>
            <a:r>
              <a:rPr dirty="0"/>
              <a:t>5 Indexes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Data Quality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5862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5862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1,007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5862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Total 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0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12,611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Total Sessions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11655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0" y="2085975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908935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rPr dirty="0"/>
              <a:t>364 days coverage  |  51 countries  |  Zero orphaned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720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Full Year 2022 - Complete temporal coverage</a:t>
            </a:r>
            <a:endParaRPr lang="en-US" dirty="0"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lang="en-US" dirty="0"/>
              <a:t>Data Quality - referential integrity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99.99% Complete Sessions - Robust data collection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Global Reach - 51 countries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User Engagement</a:t>
            </a:r>
          </a:p>
        </p:txBody>
      </p:sp>
      <p:pic>
        <p:nvPicPr>
          <p:cNvPr id="3" name="Picture 2" descr="01_dau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669280" cy="34015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92240" y="164592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92240" y="1641455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9.1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72166" y="2170501"/>
            <a:ext cx="103470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Mean DAU</a:t>
            </a:r>
          </a:p>
          <a:p>
            <a:pPr algn="ctr"/>
            <a:r>
              <a:rPr lang="en-US" dirty="0"/>
              <a:t> </a:t>
            </a:r>
            <a:r>
              <a:rPr dirty="0"/>
              <a:t>[8.6-9.6]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10896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3104495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88.8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9723" y="3656073"/>
            <a:ext cx="13195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Mean MAU</a:t>
            </a:r>
          </a:p>
          <a:p>
            <a:pPr algn="ctr"/>
            <a:r>
              <a:rPr lang="en-US" dirty="0"/>
              <a:t>  </a:t>
            </a:r>
            <a:r>
              <a:rPr dirty="0"/>
              <a:t>[82.8-94.7]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57200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638913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6484" y="5212080"/>
            <a:ext cx="131311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Stickiness</a:t>
            </a:r>
            <a:r>
              <a:rPr lang="en-US" dirty="0"/>
              <a:t> Ratio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Stable engagement with 12.5 sessions per user throughout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27733-A43C-56A9-A46F-6C941005CF95}"/>
              </a:ext>
            </a:extLst>
          </p:cNvPr>
          <p:cNvSpPr txBox="1"/>
          <p:nvPr/>
        </p:nvSpPr>
        <p:spPr>
          <a:xfrm>
            <a:off x="890111" y="5320022"/>
            <a:ext cx="4986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Significant Surge Since July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Excellen</a:t>
            </a:r>
            <a:r>
              <a:rPr lang="en-US" dirty="0"/>
              <a:t>t Retention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1645918" y="1371600"/>
            <a:ext cx="6400799" cy="731520"/>
          </a:xfrm>
          <a:prstGeom prst="roundRect">
            <a:avLst/>
          </a:prstGeom>
          <a:solidFill>
            <a:srgbClr val="2ECC71"/>
          </a:solidFill>
          <a:ln w="6350">
            <a:noFill/>
          </a:ln>
          <a:effectLst>
            <a:glow rad="531624">
              <a:schemeClr val="accent3">
                <a:lumMod val="60000"/>
                <a:lumOff val="40000"/>
                <a:alpha val="5905"/>
              </a:schemeClr>
            </a:glow>
            <a:outerShdw blurRad="202427" dist="38100" dir="2700000" algn="tl" rotWithShape="0">
              <a:prstClr val="black">
                <a:alpha val="20592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45919" y="1463040"/>
            <a:ext cx="6400799" cy="492443"/>
          </a:xfrm>
          <a:prstGeom prst="rect">
            <a:avLst/>
          </a:prstGeom>
          <a:noFill/>
          <a:effectLst>
            <a:glow rad="127000">
              <a:schemeClr val="bg1"/>
            </a:glow>
          </a:effectLst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65.6% D7 Retention - 3-4x Industry Average</a:t>
            </a:r>
          </a:p>
        </p:txBody>
      </p:sp>
      <p:pic>
        <p:nvPicPr>
          <p:cNvPr id="5" name="Picture 4" descr="03_reten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8" y="2309634"/>
            <a:ext cx="64008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Exceptional product-market fit - users who try, stay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Monetization Success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$10.86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260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$21.07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51.5%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Conversion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$10.9K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Total Revenue</a:t>
            </a:r>
          </a:p>
        </p:txBody>
      </p:sp>
      <p:pic>
        <p:nvPicPr>
          <p:cNvPr id="15" name="Picture 14" descr="04_revenue_by_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3017520"/>
            <a:ext cx="548640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6384175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Diamond Pack ($49.99) drives 62% of revenue - premium monetization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hart with numbers and a number of people&#10;&#10;AI-generated content may be incorrect.">
            <a:extLst>
              <a:ext uri="{FF2B5EF4-FFF2-40B4-BE49-F238E27FC236}">
                <a16:creationId xmlns:a16="http://schemas.microsoft.com/office/drawing/2014/main" id="{EAE6632C-2896-68F4-8C3C-BE8606710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595437"/>
            <a:ext cx="6315076" cy="5262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High-Value Demographics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5075" y="1645920"/>
            <a:ext cx="2554605" cy="3883343"/>
          </a:xfrm>
          <a:prstGeom prst="roundRect">
            <a:avLst/>
          </a:prstGeom>
          <a:solidFill>
            <a:srgbClr val="F8F9FA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3600000" scaled="0"/>
            </a:gradFill>
          </a:ln>
          <a:effectLst>
            <a:glow rad="579646">
              <a:schemeClr val="accent1">
                <a:lumMod val="60000"/>
                <a:lumOff val="40000"/>
                <a:alpha val="5000"/>
              </a:schemeClr>
            </a:glow>
            <a:outerShdw blurRad="387716" dist="38100" dir="2700000" algn="tl" rotWithShape="0">
              <a:prstClr val="black">
                <a:alpha val="4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00812" y="2069226"/>
            <a:ext cx="2185988" cy="30367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Top Markets: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Suriname: $39.19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Ireland: $22.98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Best Age Group: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18-25: $13.38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High-Value Profile: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Ireland + 18-25 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Calibri"/>
              </a:defRPr>
            </a:pPr>
            <a:r>
              <a:rPr dirty="0"/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6949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65.6% retention → Protect core gameplay loop (3-4x industry avg)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51.5% conversion → Focus on ARPPU growth, not conversion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Diamond Pack dominance → Expand $50-$100 premium tier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Geographic winners → Target Ireland, Suriname, Brazil for UA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06285" y="5212080"/>
            <a:ext cx="6531429" cy="914400"/>
          </a:xfrm>
          <a:prstGeom prst="roundRect">
            <a:avLst/>
          </a:prstGeom>
          <a:gradFill flip="none" rotWithShape="1">
            <a:gsLst>
              <a:gs pos="0">
                <a:schemeClr val="accent4">
                  <a:alpha val="40687"/>
                  <a:lumMod val="73000"/>
                </a:schemeClr>
              </a:gs>
              <a:gs pos="48000">
                <a:schemeClr val="accent6">
                  <a:lumMod val="97421"/>
                  <a:lumOff val="2579"/>
                  <a:alpha val="76000"/>
                </a:schemeClr>
              </a:gs>
              <a:gs pos="100000">
                <a:schemeClr val="accent4">
                  <a:alpha val="67000"/>
                  <a:lumMod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>
            <a:noFill/>
          </a:ln>
          <a:effectLst>
            <a:outerShdw blurRad="535990" sx="98000" sy="98000" algn="ctr" rotWithShape="0">
              <a:prstClr val="black">
                <a:alpha val="18347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06286" y="53035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Action: Scale premium monetization for +31% revenue potential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7275" y="1363773"/>
            <a:ext cx="167013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Gather &amp;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1595" y="1729533"/>
            <a:ext cx="312899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  <a:lumOff val="15000"/>
                  </a:schemeClr>
                </a:solidFill>
              </a:rPr>
              <a:t>Normalized DB with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proper indexes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595" y="2022141"/>
            <a:ext cx="33407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Non-intrusive async data transmission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1595" y="2314749"/>
            <a:ext cx="291605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SOLID principles &amp; modular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75" y="2717085"/>
            <a:ext cx="10514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1595" y="3082845"/>
            <a:ext cx="31631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Correct KPI calculations with 95%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1595" y="3375453"/>
            <a:ext cx="316413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Statistical rigor &amp; hypothesis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1595" y="3668061"/>
            <a:ext cx="27011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Efficient, reusable SQL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275" y="4070397"/>
            <a:ext cx="11238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1595" y="4436157"/>
            <a:ext cx="262680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Clear visualizations &amp;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1595" y="4728765"/>
            <a:ext cx="230396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Professional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1595" y="5021373"/>
            <a:ext cx="339875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Actionable business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599" y="5639593"/>
            <a:ext cx="6185807" cy="761207"/>
          </a:xfrm>
          <a:prstGeom prst="roundRect">
            <a:avLst/>
          </a:prstGeom>
          <a:gradFill flip="none" rotWithShape="1">
            <a:gsLst>
              <a:gs pos="69000">
                <a:srgbClr val="CEDCE0">
                  <a:lumMod val="38000"/>
                  <a:lumOff val="62000"/>
                </a:srgb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rnd">
            <a:noFill/>
          </a:ln>
          <a:effectLst>
            <a:outerShdw blurRad="386222" dir="3000000" algn="tl" rotWithShape="0">
              <a:prstClr val="black">
                <a:alpha val="14955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86593" y="5697030"/>
            <a:ext cx="59708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Calibri"/>
              </a:defRPr>
            </a:pPr>
            <a:r>
              <a:rPr dirty="0"/>
              <a:t>Production-ready analytics pipeline converting data into $3K+ revenue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10/10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B603CE-20D5-E94A-9EAE-FA9613383EB1}"/>
              </a:ext>
            </a:extLst>
          </p:cNvPr>
          <p:cNvSpPr txBox="1"/>
          <p:nvPr/>
        </p:nvSpPr>
        <p:spPr>
          <a:xfrm>
            <a:off x="4730346" y="1363773"/>
            <a:ext cx="206864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lang="en-US" dirty="0"/>
              <a:t>Pipeline Limitations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2C7852-E14E-D3DE-D61A-829CECB02F12}"/>
              </a:ext>
            </a:extLst>
          </p:cNvPr>
          <p:cNvSpPr txBox="1"/>
          <p:nvPr/>
        </p:nvSpPr>
        <p:spPr>
          <a:xfrm>
            <a:off x="5067674" y="1901844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Simulated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598E0-BD47-4581-C83D-041603DB522F}"/>
              </a:ext>
            </a:extLst>
          </p:cNvPr>
          <p:cNvSpPr txBox="1"/>
          <p:nvPr/>
        </p:nvSpPr>
        <p:spPr>
          <a:xfrm>
            <a:off x="5078350" y="2565455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Sample size of 100 users/cycle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B66A16-2734-11C7-7D32-10D6A3B9DEB7}"/>
              </a:ext>
            </a:extLst>
          </p:cNvPr>
          <p:cNvSpPr txBox="1"/>
          <p:nvPr/>
        </p:nvSpPr>
        <p:spPr>
          <a:xfrm>
            <a:off x="5078350" y="3231069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Short time window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F75267-589E-6672-C9C4-6141595738AD}"/>
              </a:ext>
            </a:extLst>
          </p:cNvPr>
          <p:cNvSpPr txBox="1"/>
          <p:nvPr/>
        </p:nvSpPr>
        <p:spPr>
          <a:xfrm>
            <a:off x="5067674" y="3898132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No experimental design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AC7177-44C5-9ACE-ABFB-987176137427}"/>
              </a:ext>
            </a:extLst>
          </p:cNvPr>
          <p:cNvSpPr txBox="1"/>
          <p:nvPr/>
        </p:nvSpPr>
        <p:spPr>
          <a:xfrm>
            <a:off x="5067674" y="4565555"/>
            <a:ext cx="2913202" cy="646986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  <a:defRPr/>
            </a:pPr>
            <a:r>
              <a:rPr lang="en-US" sz="16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Retention metrics limited by simulation time constraints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B6BCC-C0F4-1EDE-65C9-17502ADA0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571749"/>
            <a:ext cx="7772400" cy="9937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  <a:latin typeface="+mn-lt"/>
                <a:ea typeface="Apple Symbols" panose="02000000000000000000" pitchFamily="2" charset="-79"/>
                <a:cs typeface="Apple Symbols" panose="02000000000000000000" pitchFamily="2" charset="-79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661961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1425</TotalTime>
  <Words>439</Words>
  <Application>Microsoft Macintosh PowerPoint</Application>
  <PresentationFormat>On-screen Show (4:3)</PresentationFormat>
  <Paragraphs>126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yiwei ye</cp:lastModifiedBy>
  <cp:revision>16</cp:revision>
  <dcterms:created xsi:type="dcterms:W3CDTF">2013-01-27T09:14:16Z</dcterms:created>
  <dcterms:modified xsi:type="dcterms:W3CDTF">2025-11-06T19:15:30Z</dcterms:modified>
  <cp:category/>
</cp:coreProperties>
</file>