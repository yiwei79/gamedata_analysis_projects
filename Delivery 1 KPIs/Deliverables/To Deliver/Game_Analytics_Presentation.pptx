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9" r:id="rId10"/>
    <p:sldId id="263" r:id="rId11"/>
    <p:sldId id="264" r:id="rId12"/>
    <p:sldId id="265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F5FF"/>
    <a:srgbClr val="F1FBFF"/>
    <a:srgbClr val="EBF9DA"/>
    <a:srgbClr val="D2DEC3"/>
    <a:srgbClr val="FFFDE0"/>
    <a:srgbClr val="F9FFEF"/>
    <a:srgbClr val="F5FF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76"/>
    <p:restoredTop sz="94655"/>
  </p:normalViewPr>
  <p:slideViewPr>
    <p:cSldViewPr snapToGrid="0" snapToObjects="1">
      <p:cViewPr varScale="1">
        <p:scale>
          <a:sx n="117" d="100"/>
          <a:sy n="117" d="100"/>
        </p:scale>
        <p:origin x="61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155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40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504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583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555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694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06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511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107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240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261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325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2C3E50"/>
                </a:solidFill>
                <a:latin typeface="Calibri"/>
              </a:defRPr>
            </a:pPr>
            <a:r>
              <a:rPr dirty="0"/>
              <a:t>Game Analytics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3498DB"/>
                </a:solidFill>
                <a:latin typeface="Calibri"/>
              </a:defRPr>
            </a:pPr>
            <a:r>
              <a:t>KPI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12121"/>
                </a:solidFill>
                <a:latin typeface="Calibri"/>
              </a:defRPr>
            </a:pPr>
            <a:r>
              <a:t>Yiwei 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C6FA2A3-5E89-FC2E-736F-2AEC5929A28C}"/>
              </a:ext>
            </a:extLst>
          </p:cNvPr>
          <p:cNvSpPr/>
          <p:nvPr/>
        </p:nvSpPr>
        <p:spPr>
          <a:xfrm>
            <a:off x="7040880" y="2286000"/>
            <a:ext cx="1188720" cy="914400"/>
          </a:xfrm>
          <a:prstGeom prst="roundRect">
            <a:avLst/>
          </a:prstGeom>
          <a:solidFill>
            <a:srgbClr val="F9FFEF"/>
          </a:solidFill>
          <a:ln w="635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  <a:effectLst>
            <a:glow rad="642660">
              <a:srgbClr val="EBF9DA">
                <a:alpha val="4000"/>
              </a:srgbClr>
            </a:glow>
            <a:outerShdw blurRad="353782" dist="38100" dir="2520000" algn="tl" rotWithShape="0">
              <a:prstClr val="black">
                <a:alpha val="9609"/>
              </a:prstClr>
            </a:outerShdw>
            <a:softEdge rad="12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BEE875B-1D82-F136-6EE6-F3881BF35BA8}"/>
              </a:ext>
            </a:extLst>
          </p:cNvPr>
          <p:cNvSpPr/>
          <p:nvPr/>
        </p:nvSpPr>
        <p:spPr>
          <a:xfrm>
            <a:off x="5463540" y="2286000"/>
            <a:ext cx="1188720" cy="914400"/>
          </a:xfrm>
          <a:prstGeom prst="roundRect">
            <a:avLst/>
          </a:prstGeom>
          <a:solidFill>
            <a:srgbClr val="F9FFEF"/>
          </a:solidFill>
          <a:ln w="635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  <a:effectLst>
            <a:glow rad="642660">
              <a:srgbClr val="EBF9DA">
                <a:alpha val="4000"/>
              </a:srgbClr>
            </a:glow>
            <a:outerShdw blurRad="353782" dist="38100" dir="2520000" algn="tl" rotWithShape="0">
              <a:prstClr val="black">
                <a:alpha val="9609"/>
              </a:prstClr>
            </a:outerShdw>
            <a:softEdge rad="12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FDD2CF4-19E7-8715-B6AF-6392F014021A}"/>
              </a:ext>
            </a:extLst>
          </p:cNvPr>
          <p:cNvSpPr/>
          <p:nvPr/>
        </p:nvSpPr>
        <p:spPr>
          <a:xfrm>
            <a:off x="3943350" y="2286000"/>
            <a:ext cx="1188720" cy="914400"/>
          </a:xfrm>
          <a:prstGeom prst="roundRect">
            <a:avLst/>
          </a:prstGeom>
          <a:solidFill>
            <a:srgbClr val="F9FFEF"/>
          </a:solidFill>
          <a:ln w="635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  <a:effectLst>
            <a:glow rad="642660">
              <a:srgbClr val="EBF9DA">
                <a:alpha val="4000"/>
              </a:srgbClr>
            </a:glow>
            <a:outerShdw blurRad="353782" dist="38100" dir="2520000" algn="tl" rotWithShape="0">
              <a:prstClr val="black">
                <a:alpha val="9609"/>
              </a:prstClr>
            </a:outerShdw>
            <a:softEdge rad="12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6305CF9-279A-E36A-52CC-35359FFF9C26}"/>
              </a:ext>
            </a:extLst>
          </p:cNvPr>
          <p:cNvSpPr/>
          <p:nvPr/>
        </p:nvSpPr>
        <p:spPr>
          <a:xfrm>
            <a:off x="2457450" y="2258347"/>
            <a:ext cx="1188720" cy="914400"/>
          </a:xfrm>
          <a:prstGeom prst="roundRect">
            <a:avLst/>
          </a:prstGeom>
          <a:solidFill>
            <a:srgbClr val="F9FFEF"/>
          </a:solidFill>
          <a:ln w="635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  <a:effectLst>
            <a:glow rad="642660">
              <a:srgbClr val="EBF9DA">
                <a:alpha val="4000"/>
              </a:srgbClr>
            </a:glow>
            <a:outerShdw blurRad="353782" dist="38100" dir="2520000" algn="tl" rotWithShape="0">
              <a:prstClr val="black">
                <a:alpha val="9609"/>
              </a:prstClr>
            </a:outerShdw>
            <a:softEdge rad="12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  <a:latin typeface="Calibri"/>
              </a:defRPr>
            </a:pPr>
            <a:r>
              <a:t>Pipeline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2286000"/>
            <a:ext cx="1188720" cy="914400"/>
          </a:xfrm>
          <a:prstGeom prst="roundRect">
            <a:avLst/>
          </a:prstGeom>
          <a:solidFill>
            <a:srgbClr val="F9FFEF"/>
          </a:solidFill>
          <a:ln w="635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  <a:effectLst>
            <a:glow rad="642660">
              <a:srgbClr val="EBF9DA">
                <a:alpha val="4000"/>
              </a:srgbClr>
            </a:glow>
            <a:outerShdw blurRad="353782" dist="38100" dir="2520000" algn="tl" rotWithShape="0">
              <a:prstClr val="black">
                <a:alpha val="9609"/>
              </a:prstClr>
            </a:outerShdw>
            <a:softEdge rad="12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10677" y="2450813"/>
            <a:ext cx="1087605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498DB"/>
                </a:solidFill>
                <a:latin typeface="Calibri"/>
              </a:defRPr>
            </a:pPr>
            <a:r>
              <a:rPr dirty="0"/>
              <a:t>Unity</a:t>
            </a:r>
          </a:p>
          <a:p>
            <a:pPr algn="ctr"/>
            <a:r>
              <a:rPr dirty="0"/>
              <a:t>Simulator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48840" y="2697480"/>
            <a:ext cx="320040" cy="91440"/>
          </a:xfrm>
          <a:prstGeom prst="rightArrow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49477" y="2450813"/>
            <a:ext cx="1027525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498DB"/>
                </a:solidFill>
                <a:latin typeface="Calibri"/>
              </a:defRPr>
            </a:pPr>
            <a:r>
              <a:rPr dirty="0"/>
              <a:t>Analytics</a:t>
            </a:r>
          </a:p>
          <a:p>
            <a:pPr algn="ctr"/>
            <a:r>
              <a:rPr dirty="0"/>
              <a:t>Manager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623310" y="2697480"/>
            <a:ext cx="320040" cy="91440"/>
          </a:xfrm>
          <a:prstGeom prst="rightArrow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50749" y="2450813"/>
            <a:ext cx="973921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498DB"/>
                </a:solidFill>
                <a:latin typeface="Calibri"/>
              </a:defRPr>
            </a:pPr>
            <a:r>
              <a:rPr dirty="0"/>
              <a:t>PHP</a:t>
            </a:r>
          </a:p>
          <a:p>
            <a:pPr algn="ctr"/>
            <a:r>
              <a:rPr dirty="0"/>
              <a:t>Backend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109210" y="2743200"/>
            <a:ext cx="320040" cy="91440"/>
          </a:xfrm>
          <a:prstGeom prst="rightArrow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63540" y="2514600"/>
            <a:ext cx="118872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3498DB"/>
                </a:solidFill>
                <a:latin typeface="Calibri"/>
              </a:defRPr>
            </a:pPr>
            <a:r>
              <a:rPr dirty="0"/>
              <a:t>MySQL</a:t>
            </a:r>
          </a:p>
          <a:p>
            <a:pPr algn="ctr"/>
            <a:r>
              <a:rPr dirty="0"/>
              <a:t>Database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675120" y="2715547"/>
            <a:ext cx="320040" cy="91440"/>
          </a:xfrm>
          <a:prstGeom prst="rightArrow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66458" y="2450813"/>
            <a:ext cx="937564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498DB"/>
                </a:solidFill>
                <a:latin typeface="Calibri"/>
              </a:defRPr>
            </a:pPr>
            <a:r>
              <a:rPr dirty="0"/>
              <a:t>R</a:t>
            </a:r>
          </a:p>
          <a:p>
            <a:pPr algn="ctr"/>
            <a:r>
              <a:rPr dirty="0"/>
              <a:t>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14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rPr dirty="0"/>
              <a:t>Non-intrusive event subscription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rPr dirty="0"/>
              <a:t>Async coroutines (Unity → PHP)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rPr dirty="0"/>
              <a:t>Prepared statements (SQL injection prevention)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rPr dirty="0"/>
              <a:t>Normalized database schema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  <a:latin typeface="Calibr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  <a:latin typeface="Calibri"/>
              </a:defRPr>
            </a:pPr>
            <a:r>
              <a:rPr dirty="0"/>
              <a:t>Database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819025"/>
            <a:ext cx="2743200" cy="1508760"/>
          </a:xfrm>
          <a:prstGeom prst="roundRect">
            <a:avLst/>
          </a:prstGeom>
          <a:solidFill>
            <a:srgbClr val="FFFFFF"/>
          </a:solidFill>
          <a:ln w="63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glow rad="919951">
              <a:schemeClr val="accent6">
                <a:lumMod val="20000"/>
                <a:lumOff val="80000"/>
                <a:alpha val="5000"/>
              </a:schemeClr>
            </a:glow>
            <a:outerShdw blurRad="1003435" dist="38100" dir="2700000" algn="tl" rotWithShape="0">
              <a:prstClr val="black">
                <a:alpha val="3886"/>
              </a:prstClr>
            </a:outerShdw>
            <a:softEdge rad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799476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498DB"/>
                </a:solidFill>
                <a:latin typeface="Calibri"/>
              </a:defRPr>
            </a:pPr>
            <a:r>
              <a:rPr dirty="0"/>
              <a:t>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2107936"/>
            <a:ext cx="1765227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121"/>
                </a:solidFill>
                <a:latin typeface="Courier New"/>
              </a:defRPr>
            </a:pPr>
            <a:r>
              <a:rPr dirty="0" err="1"/>
              <a:t>user_id</a:t>
            </a:r>
            <a:r>
              <a:rPr dirty="0"/>
              <a:t> (PK)</a:t>
            </a:r>
          </a:p>
          <a:p>
            <a:pPr>
              <a:defRPr sz="1200">
                <a:solidFill>
                  <a:srgbClr val="212121"/>
                </a:solidFill>
                <a:latin typeface="Courier New"/>
              </a:defRPr>
            </a:pPr>
            <a:r>
              <a:rPr dirty="0"/>
              <a:t>username</a:t>
            </a:r>
          </a:p>
          <a:p>
            <a:pPr>
              <a:defRPr sz="1200">
                <a:solidFill>
                  <a:srgbClr val="212121"/>
                </a:solidFill>
                <a:latin typeface="Courier New"/>
              </a:defRPr>
            </a:pPr>
            <a:r>
              <a:rPr dirty="0"/>
              <a:t>country</a:t>
            </a:r>
          </a:p>
          <a:p>
            <a:pPr>
              <a:defRPr sz="1200">
                <a:solidFill>
                  <a:srgbClr val="212121"/>
                </a:solidFill>
                <a:latin typeface="Courier New"/>
              </a:defRPr>
            </a:pPr>
            <a:r>
              <a:rPr dirty="0"/>
              <a:t>age</a:t>
            </a:r>
          </a:p>
          <a:p>
            <a:pPr>
              <a:defRPr sz="1200">
                <a:solidFill>
                  <a:srgbClr val="212121"/>
                </a:solidFill>
                <a:latin typeface="Courier New"/>
              </a:defRPr>
            </a:pPr>
            <a:r>
              <a:rPr lang="en-US" dirty="0"/>
              <a:t>g</a:t>
            </a:r>
            <a:r>
              <a:rPr dirty="0"/>
              <a:t>ender</a:t>
            </a:r>
            <a:endParaRPr lang="en-US" dirty="0"/>
          </a:p>
          <a:p>
            <a:pPr>
              <a:defRPr sz="1200">
                <a:solidFill>
                  <a:srgbClr val="212121"/>
                </a:solidFill>
                <a:latin typeface="Courier New"/>
              </a:defRPr>
            </a:pPr>
            <a:r>
              <a:rPr lang="en-US" dirty="0"/>
              <a:t>registration_date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5029200" y="1819025"/>
            <a:ext cx="2743200" cy="1508760"/>
          </a:xfrm>
          <a:prstGeom prst="roundRect">
            <a:avLst/>
          </a:prstGeom>
          <a:solidFill>
            <a:srgbClr val="FFFFFF"/>
          </a:solidFill>
          <a:ln w="635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  <a:effectLst>
            <a:glow rad="820539">
              <a:schemeClr val="accent6">
                <a:lumMod val="20000"/>
                <a:lumOff val="80000"/>
                <a:alpha val="6000"/>
              </a:schemeClr>
            </a:glow>
            <a:outerShdw blurRad="1058925" dist="38100" dir="2700000" algn="tl" rotWithShape="0">
              <a:prstClr val="black">
                <a:alpha val="2896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0" y="1804855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498DB"/>
                </a:solidFill>
                <a:latin typeface="Calibri"/>
              </a:defRPr>
            </a:pPr>
            <a:r>
              <a:rPr dirty="0"/>
              <a:t>sessions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2107936"/>
            <a:ext cx="2468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121"/>
                </a:solidFill>
                <a:latin typeface="Courier New"/>
              </a:defRPr>
            </a:pPr>
            <a:r>
              <a:rPr dirty="0" err="1"/>
              <a:t>session_id</a:t>
            </a:r>
            <a:r>
              <a:rPr dirty="0"/>
              <a:t> (PK)</a:t>
            </a:r>
          </a:p>
          <a:p>
            <a:pPr>
              <a:defRPr sz="1200">
                <a:solidFill>
                  <a:srgbClr val="212121"/>
                </a:solidFill>
                <a:latin typeface="Courier New"/>
              </a:defRPr>
            </a:pPr>
            <a:r>
              <a:rPr dirty="0" err="1"/>
              <a:t>user_id</a:t>
            </a:r>
            <a:r>
              <a:rPr dirty="0"/>
              <a:t> (FK)</a:t>
            </a:r>
          </a:p>
          <a:p>
            <a:pPr>
              <a:defRPr sz="1200">
                <a:solidFill>
                  <a:srgbClr val="212121"/>
                </a:solidFill>
                <a:latin typeface="Courier New"/>
              </a:defRPr>
            </a:pPr>
            <a:r>
              <a:rPr dirty="0" err="1"/>
              <a:t>start_time</a:t>
            </a:r>
            <a:endParaRPr dirty="0"/>
          </a:p>
          <a:p>
            <a:pPr>
              <a:defRPr sz="1200">
                <a:solidFill>
                  <a:srgbClr val="212121"/>
                </a:solidFill>
                <a:latin typeface="Courier New"/>
              </a:defRPr>
            </a:pPr>
            <a:r>
              <a:rPr dirty="0" err="1"/>
              <a:t>end_time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1371600" y="3922145"/>
            <a:ext cx="2743200" cy="1280160"/>
          </a:xfrm>
          <a:prstGeom prst="roundRect">
            <a:avLst/>
          </a:prstGeom>
          <a:solidFill>
            <a:srgbClr val="FFFFFF"/>
          </a:solidFill>
          <a:ln w="63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glow rad="635000">
              <a:schemeClr val="accent6">
                <a:lumMod val="20000"/>
                <a:lumOff val="80000"/>
                <a:alpha val="5000"/>
              </a:schemeClr>
            </a:glow>
            <a:outerShdw blurRad="1138143" dist="38100" dir="2700000" algn="tl" rotWithShape="0">
              <a:prstClr val="black">
                <a:alpha val="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3922145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498DB"/>
                </a:solidFill>
                <a:latin typeface="Calibri"/>
              </a:defRPr>
            </a:pPr>
            <a:r>
              <a:t>purchases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4170301"/>
            <a:ext cx="1672253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121"/>
                </a:solidFill>
                <a:latin typeface="Courier New"/>
              </a:defRPr>
            </a:pPr>
            <a:r>
              <a:rPr dirty="0"/>
              <a:t>purchase_id (PK)</a:t>
            </a:r>
          </a:p>
          <a:p>
            <a:pPr>
              <a:defRPr sz="1200">
                <a:solidFill>
                  <a:srgbClr val="212121"/>
                </a:solidFill>
                <a:latin typeface="Courier New"/>
              </a:defRPr>
            </a:pPr>
            <a:r>
              <a:rPr dirty="0"/>
              <a:t>user_id (FK)</a:t>
            </a:r>
          </a:p>
          <a:p>
            <a:pPr>
              <a:defRPr sz="1200">
                <a:solidFill>
                  <a:srgbClr val="212121"/>
                </a:solidFill>
                <a:latin typeface="Courier New"/>
              </a:defRPr>
            </a:pPr>
            <a:r>
              <a:rPr dirty="0"/>
              <a:t>item_id (FK)</a:t>
            </a:r>
          </a:p>
          <a:p>
            <a:pPr>
              <a:defRPr sz="1200">
                <a:solidFill>
                  <a:srgbClr val="212121"/>
                </a:solidFill>
                <a:latin typeface="Courier New"/>
              </a:defRPr>
            </a:pPr>
            <a:r>
              <a:rPr lang="en-US" dirty="0"/>
              <a:t>amount</a:t>
            </a:r>
          </a:p>
          <a:p>
            <a:pPr>
              <a:defRPr sz="1200">
                <a:solidFill>
                  <a:srgbClr val="212121"/>
                </a:solidFill>
                <a:latin typeface="Courier New"/>
              </a:defRPr>
            </a:pPr>
            <a:r>
              <a:rPr lang="en-US" dirty="0"/>
              <a:t>purchase_date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5029200" y="3922145"/>
            <a:ext cx="2743200" cy="1280160"/>
          </a:xfrm>
          <a:prstGeom prst="roundRect">
            <a:avLst/>
          </a:prstGeom>
          <a:solidFill>
            <a:srgbClr val="FFFFFF"/>
          </a:solidFill>
          <a:ln w="63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glow rad="635000">
              <a:schemeClr val="accent6">
                <a:lumMod val="20000"/>
                <a:lumOff val="80000"/>
                <a:alpha val="5000"/>
              </a:schemeClr>
            </a:glow>
            <a:outerShdw blurRad="1030412" dist="38100" dir="2700000" algn="tl" rotWithShape="0">
              <a:prstClr val="black">
                <a:alpha val="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0" y="3922145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498DB"/>
                </a:solidFill>
                <a:latin typeface="Calibri"/>
              </a:defRPr>
            </a:pPr>
            <a:r>
              <a:rPr dirty="0"/>
              <a:t>items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4222636"/>
            <a:ext cx="2468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121"/>
                </a:solidFill>
                <a:latin typeface="Courier New"/>
              </a:defRPr>
            </a:pPr>
            <a:r>
              <a:rPr dirty="0" err="1"/>
              <a:t>item_id</a:t>
            </a:r>
            <a:r>
              <a:rPr dirty="0"/>
              <a:t> (PK)</a:t>
            </a:r>
          </a:p>
          <a:p>
            <a:pPr>
              <a:defRPr sz="1200">
                <a:solidFill>
                  <a:srgbClr val="212121"/>
                </a:solidFill>
                <a:latin typeface="Courier New"/>
              </a:defRPr>
            </a:pPr>
            <a:r>
              <a:rPr dirty="0" err="1"/>
              <a:t>item_name</a:t>
            </a:r>
            <a:endParaRPr dirty="0"/>
          </a:p>
          <a:p>
            <a:pPr>
              <a:defRPr sz="1200">
                <a:solidFill>
                  <a:srgbClr val="212121"/>
                </a:solidFill>
                <a:latin typeface="Courier New"/>
              </a:defRPr>
            </a:pPr>
            <a:r>
              <a:rPr dirty="0"/>
              <a:t>price</a:t>
            </a:r>
          </a:p>
          <a:p>
            <a:pPr>
              <a:defRPr sz="1200">
                <a:solidFill>
                  <a:srgbClr val="212121"/>
                </a:solidFill>
                <a:latin typeface="Courier New"/>
              </a:defRPr>
            </a:pPr>
            <a:r>
              <a:rPr dirty="0"/>
              <a:t>category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5669280"/>
            <a:ext cx="6400800" cy="548640"/>
          </a:xfrm>
          <a:prstGeom prst="roundRect">
            <a:avLst/>
          </a:prstGeom>
          <a:solidFill>
            <a:srgbClr val="F8F9FA"/>
          </a:solidFill>
          <a:ln w="6350"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  <a:effectLst>
            <a:outerShdw blurRad="363631" dist="38100" dir="2700000" algn="tl" rotWithShape="0">
              <a:prstClr val="black">
                <a:alpha val="10422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6400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2ECC71"/>
                </a:solidFill>
                <a:latin typeface="Calibri"/>
              </a:defRPr>
            </a:pPr>
            <a:r>
              <a:rPr dirty="0"/>
              <a:t>4 Tables | 3 Foreign Keys | </a:t>
            </a:r>
            <a:r>
              <a:rPr lang="en-US" dirty="0"/>
              <a:t>4 - </a:t>
            </a:r>
            <a:r>
              <a:rPr dirty="0"/>
              <a:t>5 Indexes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  <a:latin typeface="Calibr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  <a:latin typeface="Calibri"/>
              </a:defRPr>
            </a:pPr>
            <a:r>
              <a:rPr dirty="0"/>
              <a:t>Data Quality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5862" y="1828800"/>
            <a:ext cx="182880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CF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5862" y="210312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498DB"/>
                </a:solidFill>
                <a:latin typeface="Calibri"/>
              </a:defRPr>
            </a:pPr>
            <a:r>
              <a:rPr dirty="0"/>
              <a:t>1,007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5862" y="2926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F8C8D"/>
                </a:solidFill>
                <a:latin typeface="Calibri"/>
              </a:defRPr>
            </a:pPr>
            <a:r>
              <a:rPr dirty="0"/>
              <a:t>Total Users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828800"/>
            <a:ext cx="182880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CF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0" y="210312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498DB"/>
                </a:solidFill>
                <a:latin typeface="Calibri"/>
              </a:defRPr>
            </a:pPr>
            <a:r>
              <a:rPr dirty="0"/>
              <a:t>12,611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926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F8C8D"/>
                </a:solidFill>
                <a:latin typeface="Calibri"/>
              </a:defRPr>
            </a:pPr>
            <a:r>
              <a:rPr dirty="0"/>
              <a:t>Total Sessions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11655"/>
            <a:ext cx="182880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CF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0" y="2085975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498DB"/>
                </a:solidFill>
                <a:latin typeface="Calibri"/>
              </a:defRPr>
            </a:pPr>
            <a:r>
              <a:t>1,272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908935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F8C8D"/>
                </a:solidFill>
                <a:latin typeface="Calibri"/>
              </a:defRPr>
            </a:pPr>
            <a:r>
              <a:t>Purchases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84048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ECC71"/>
                </a:solidFill>
                <a:latin typeface="Calibri"/>
              </a:defRPr>
            </a:pPr>
            <a:r>
              <a:rPr dirty="0"/>
              <a:t>364 days coverage  |  51 countries  |  Zero orphaned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5720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rPr dirty="0"/>
              <a:t>Full Year 2022 - Complete temporal coverage</a:t>
            </a:r>
            <a:endParaRPr lang="en-US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rPr lang="en-US" dirty="0"/>
              <a:t>Data Quality - referential integrity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rPr dirty="0"/>
              <a:t>99.99% Complete Sessions - Robust data collection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rPr dirty="0"/>
              <a:t>Global Reach - 51 countries represented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  <a:latin typeface="Calibr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  <a:latin typeface="Calibri"/>
              </a:defRPr>
            </a:pPr>
            <a:r>
              <a:t>User Engagement</a:t>
            </a:r>
          </a:p>
        </p:txBody>
      </p:sp>
      <p:pic>
        <p:nvPicPr>
          <p:cNvPr id="3" name="Picture 2" descr="01_dau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669280" cy="340156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492240" y="1645920"/>
            <a:ext cx="2194560" cy="11887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CF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92240" y="1641455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498DB"/>
                </a:solidFill>
                <a:latin typeface="Calibri"/>
              </a:defRPr>
            </a:pPr>
            <a:r>
              <a:rPr dirty="0"/>
              <a:t>9.1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72166" y="2170501"/>
            <a:ext cx="103470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F8C8D"/>
                </a:solidFill>
                <a:latin typeface="Calibri"/>
              </a:defRPr>
            </a:pPr>
            <a:r>
              <a:rPr dirty="0"/>
              <a:t>Mean DAU</a:t>
            </a:r>
          </a:p>
          <a:p>
            <a:pPr algn="ctr"/>
            <a:r>
              <a:rPr lang="en-US" dirty="0"/>
              <a:t> </a:t>
            </a:r>
            <a:r>
              <a:rPr dirty="0"/>
              <a:t>[8.6-9.6]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3108960"/>
            <a:ext cx="2194560" cy="11887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CF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3104495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498DB"/>
                </a:solidFill>
                <a:latin typeface="Calibri"/>
              </a:defRPr>
            </a:pPr>
            <a:r>
              <a:rPr dirty="0"/>
              <a:t>88.8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29723" y="3656073"/>
            <a:ext cx="1319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F8C8D"/>
                </a:solidFill>
                <a:latin typeface="Calibri"/>
              </a:defRPr>
            </a:pPr>
            <a:r>
              <a:rPr dirty="0"/>
              <a:t>Mean MAU</a:t>
            </a:r>
          </a:p>
          <a:p>
            <a:pPr algn="ctr"/>
            <a:r>
              <a:rPr lang="en-US" dirty="0"/>
              <a:t>  </a:t>
            </a:r>
            <a:r>
              <a:rPr dirty="0"/>
              <a:t>[82.8-94.7]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4572000"/>
            <a:ext cx="2194560" cy="11887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CF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4638913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498DB"/>
                </a:solidFill>
                <a:latin typeface="Calibri"/>
              </a:defRPr>
            </a:pPr>
            <a:r>
              <a:rPr dirty="0"/>
              <a:t>10.2%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16484" y="5212080"/>
            <a:ext cx="131311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F8C8D"/>
                </a:solidFill>
                <a:latin typeface="Calibri"/>
              </a:defRPr>
            </a:pPr>
            <a:r>
              <a:rPr dirty="0"/>
              <a:t>Stickiness</a:t>
            </a:r>
            <a:r>
              <a:rPr lang="en-US" dirty="0"/>
              <a:t> Ratio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  <a:latin typeface="Calibri"/>
              </a:defRPr>
            </a:pPr>
            <a:r>
              <a:rPr dirty="0"/>
              <a:t>Stable engagement with 12.5 sessions per user throughout 2022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  <a:latin typeface="Calibri"/>
              </a:defRPr>
            </a:pPr>
            <a:r>
              <a:t>5/10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B27733-A43C-56A9-A46F-6C941005CF95}"/>
              </a:ext>
            </a:extLst>
          </p:cNvPr>
          <p:cNvSpPr txBox="1"/>
          <p:nvPr/>
        </p:nvSpPr>
        <p:spPr>
          <a:xfrm>
            <a:off x="890111" y="5320022"/>
            <a:ext cx="4986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Significant Surge Since July 2022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37568-B407-5DAE-A469-18970CFB0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736EAC-CAF8-BB81-8090-E1511824DA1F}"/>
              </a:ext>
            </a:extLst>
          </p:cNvPr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  <a:latin typeface="Calibri"/>
              </a:defRPr>
            </a:pPr>
            <a:r>
              <a:t>User Engagement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66D857-BD40-DEF7-8D72-D298874F098C}"/>
              </a:ext>
            </a:extLst>
          </p:cNvPr>
          <p:cNvSpPr/>
          <p:nvPr/>
        </p:nvSpPr>
        <p:spPr>
          <a:xfrm>
            <a:off x="6492240" y="1645920"/>
            <a:ext cx="2194560" cy="11887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CF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5E2601-467A-31D5-DE46-483F7D5EFE9A}"/>
              </a:ext>
            </a:extLst>
          </p:cNvPr>
          <p:cNvSpPr txBox="1"/>
          <p:nvPr/>
        </p:nvSpPr>
        <p:spPr>
          <a:xfrm>
            <a:off x="6492240" y="1641455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498DB"/>
                </a:solidFill>
                <a:latin typeface="Calibri"/>
              </a:defRPr>
            </a:pPr>
            <a:r>
              <a:rPr dirty="0"/>
              <a:t>9.1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E123CF-BDA8-5408-FA25-44B1D04963B6}"/>
              </a:ext>
            </a:extLst>
          </p:cNvPr>
          <p:cNvSpPr txBox="1"/>
          <p:nvPr/>
        </p:nvSpPr>
        <p:spPr>
          <a:xfrm>
            <a:off x="7072166" y="2170501"/>
            <a:ext cx="103470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F8C8D"/>
                </a:solidFill>
                <a:latin typeface="Calibri"/>
              </a:defRPr>
            </a:pPr>
            <a:r>
              <a:rPr dirty="0"/>
              <a:t>Mean DAU</a:t>
            </a:r>
          </a:p>
          <a:p>
            <a:pPr algn="ctr"/>
            <a:r>
              <a:rPr lang="en-US" dirty="0"/>
              <a:t> </a:t>
            </a:r>
            <a:r>
              <a:rPr dirty="0"/>
              <a:t>[8.6-9.6]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EAA6473-CCA8-BF0D-7CAE-AF62669B053F}"/>
              </a:ext>
            </a:extLst>
          </p:cNvPr>
          <p:cNvSpPr/>
          <p:nvPr/>
        </p:nvSpPr>
        <p:spPr>
          <a:xfrm>
            <a:off x="6492240" y="3108960"/>
            <a:ext cx="2194560" cy="11887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CF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DE8C66-CD73-8713-2626-DDC14AFBE1E8}"/>
              </a:ext>
            </a:extLst>
          </p:cNvPr>
          <p:cNvSpPr txBox="1"/>
          <p:nvPr/>
        </p:nvSpPr>
        <p:spPr>
          <a:xfrm>
            <a:off x="6492240" y="3104495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498DB"/>
                </a:solidFill>
                <a:latin typeface="Calibri"/>
              </a:defRPr>
            </a:pPr>
            <a:r>
              <a:rPr dirty="0"/>
              <a:t>88.8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9368E7-DA3F-88E6-9BD6-DF5B753D2D74}"/>
              </a:ext>
            </a:extLst>
          </p:cNvPr>
          <p:cNvSpPr txBox="1"/>
          <p:nvPr/>
        </p:nvSpPr>
        <p:spPr>
          <a:xfrm>
            <a:off x="6929723" y="3656073"/>
            <a:ext cx="1319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F8C8D"/>
                </a:solidFill>
                <a:latin typeface="Calibri"/>
              </a:defRPr>
            </a:pPr>
            <a:r>
              <a:rPr dirty="0"/>
              <a:t>Mean MAU</a:t>
            </a:r>
          </a:p>
          <a:p>
            <a:pPr algn="ctr"/>
            <a:r>
              <a:rPr lang="en-US" dirty="0"/>
              <a:t>  </a:t>
            </a:r>
            <a:r>
              <a:rPr dirty="0"/>
              <a:t>[82.8-94.7]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648DCEA-9B4F-F46B-21B5-DEE0EBD77A48}"/>
              </a:ext>
            </a:extLst>
          </p:cNvPr>
          <p:cNvSpPr/>
          <p:nvPr/>
        </p:nvSpPr>
        <p:spPr>
          <a:xfrm>
            <a:off x="6492240" y="4572000"/>
            <a:ext cx="2194560" cy="11887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CF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14FF0B-51FF-3A62-8191-40D333F0336D}"/>
              </a:ext>
            </a:extLst>
          </p:cNvPr>
          <p:cNvSpPr txBox="1"/>
          <p:nvPr/>
        </p:nvSpPr>
        <p:spPr>
          <a:xfrm>
            <a:off x="6492240" y="4638913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498DB"/>
                </a:solidFill>
                <a:latin typeface="Calibri"/>
              </a:defRPr>
            </a:pPr>
            <a:r>
              <a:rPr dirty="0"/>
              <a:t>10.2%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5C43F5-675C-C3A7-7110-D76A40C1EB65}"/>
              </a:ext>
            </a:extLst>
          </p:cNvPr>
          <p:cNvSpPr txBox="1"/>
          <p:nvPr/>
        </p:nvSpPr>
        <p:spPr>
          <a:xfrm>
            <a:off x="6916484" y="5212080"/>
            <a:ext cx="131311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F8C8D"/>
                </a:solidFill>
                <a:latin typeface="Calibri"/>
              </a:defRPr>
            </a:pPr>
            <a:r>
              <a:rPr dirty="0"/>
              <a:t>Stickiness</a:t>
            </a:r>
            <a:r>
              <a:rPr lang="en-US" dirty="0"/>
              <a:t> Ratio</a:t>
            </a: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414458-1250-9748-086C-B9D625CEDBFC}"/>
              </a:ext>
            </a:extLst>
          </p:cNvPr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  <a:latin typeface="Calibri"/>
              </a:defRPr>
            </a:pPr>
            <a:r>
              <a:rPr dirty="0"/>
              <a:t>Stable engagement with 12.5 sessions per user throughout 2022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1D3E09-8540-A0E2-577A-04A4325B6EB4}"/>
              </a:ext>
            </a:extLst>
          </p:cNvPr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  <a:latin typeface="Calibri"/>
              </a:defRPr>
            </a:pPr>
            <a:r>
              <a:t>5/10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7BD1F6-6980-94DE-C21D-13801CBDFFE4}"/>
              </a:ext>
            </a:extLst>
          </p:cNvPr>
          <p:cNvSpPr txBox="1"/>
          <p:nvPr/>
        </p:nvSpPr>
        <p:spPr>
          <a:xfrm>
            <a:off x="890111" y="5320022"/>
            <a:ext cx="4986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Significant Surge Since July 2022</a:t>
            </a:r>
          </a:p>
        </p:txBody>
      </p:sp>
      <p:pic>
        <p:nvPicPr>
          <p:cNvPr id="17" name="Picture 16" descr="A graph of blue bars&#10;&#10;AI-generated content may be incorrect.">
            <a:extLst>
              <a:ext uri="{FF2B5EF4-FFF2-40B4-BE49-F238E27FC236}">
                <a16:creationId xmlns:a16="http://schemas.microsoft.com/office/drawing/2014/main" id="{6ABC5E92-C6C4-633C-47C6-F98B8A9FD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459" y="1562752"/>
            <a:ext cx="6220825" cy="373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348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graph with a red line&#10;&#10;AI-generated content may be incorrect.">
            <a:extLst>
              <a:ext uri="{FF2B5EF4-FFF2-40B4-BE49-F238E27FC236}">
                <a16:creationId xmlns:a16="http://schemas.microsoft.com/office/drawing/2014/main" id="{A8CDDB9C-D6FE-A8B4-588F-5C64ACCF5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7" y="2176270"/>
            <a:ext cx="6736083" cy="404165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57200" y="457200"/>
            <a:ext cx="822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  <a:latin typeface="Calibri"/>
              </a:defRPr>
            </a:pPr>
            <a:r>
              <a:rPr dirty="0"/>
              <a:t>Excellen</a:t>
            </a:r>
            <a:r>
              <a:rPr lang="en-US" dirty="0"/>
              <a:t>t Retention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1099457" y="1371600"/>
            <a:ext cx="7315200" cy="731520"/>
          </a:xfrm>
          <a:prstGeom prst="roundRect">
            <a:avLst/>
          </a:prstGeom>
          <a:solidFill>
            <a:srgbClr val="2ECC71"/>
          </a:solidFill>
          <a:ln w="6350">
            <a:noFill/>
          </a:ln>
          <a:effectLst>
            <a:glow rad="531624">
              <a:schemeClr val="accent3">
                <a:lumMod val="60000"/>
                <a:lumOff val="40000"/>
                <a:alpha val="5905"/>
              </a:schemeClr>
            </a:glow>
            <a:outerShdw blurRad="202427" dist="38100" dir="2700000" algn="tl" rotWithShape="0">
              <a:prstClr val="black">
                <a:alpha val="20592"/>
              </a:prstClr>
            </a:outerShdw>
            <a:softEdge rad="12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9457" y="1491138"/>
            <a:ext cx="7315200" cy="492443"/>
          </a:xfrm>
          <a:prstGeom prst="rect">
            <a:avLst/>
          </a:prstGeom>
          <a:noFill/>
          <a:effectLst>
            <a:glow rad="127000">
              <a:schemeClr val="bg1"/>
            </a:glow>
          </a:effectLst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10.2% </a:t>
            </a:r>
            <a:r>
              <a:rPr dirty="0"/>
              <a:t>D7 Retention</a:t>
            </a:r>
            <a:r>
              <a:rPr lang="en-US" dirty="0"/>
              <a:t> – Solid with Growing Potential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7315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  <a:latin typeface="Calibri"/>
              </a:defRPr>
            </a:pPr>
            <a:r>
              <a:rPr lang="en-US" dirty="0"/>
              <a:t>Solid </a:t>
            </a:r>
            <a:r>
              <a:rPr dirty="0"/>
              <a:t>product-market fit - users who try, stay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  <a:latin typeface="Calibr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  <a:latin typeface="Calibri"/>
              </a:defRPr>
            </a:pPr>
            <a:r>
              <a:t>Monetization Success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463040"/>
            <a:ext cx="1554480" cy="10058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CF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600200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ECC71"/>
                </a:solidFill>
                <a:latin typeface="Calibri"/>
              </a:defRPr>
            </a:pPr>
            <a:r>
              <a:rPr dirty="0"/>
              <a:t>$10.86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F8C8D"/>
                </a:solidFill>
                <a:latin typeface="Calibri"/>
              </a:defRPr>
            </a:pPr>
            <a:r>
              <a:t>ARPU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463040"/>
            <a:ext cx="1554480" cy="10058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CF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26080" y="1600200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ECC71"/>
                </a:solidFill>
                <a:latin typeface="Calibri"/>
              </a:defRPr>
            </a:pPr>
            <a:r>
              <a:rPr dirty="0"/>
              <a:t>$21.07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56032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F8C8D"/>
                </a:solidFill>
                <a:latin typeface="Calibri"/>
              </a:defRPr>
            </a:pPr>
            <a:r>
              <a:t>ARPPU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463040"/>
            <a:ext cx="1554480" cy="10058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CF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1600200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ECC71"/>
                </a:solidFill>
                <a:latin typeface="Calibri"/>
              </a:defRPr>
            </a:pPr>
            <a:r>
              <a:t>51.5%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56032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F8C8D"/>
                </a:solidFill>
                <a:latin typeface="Calibri"/>
              </a:defRPr>
            </a:pPr>
            <a:r>
              <a:t>Conversion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463040"/>
            <a:ext cx="1554480" cy="10058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CF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600200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ECC71"/>
                </a:solidFill>
                <a:latin typeface="Calibri"/>
              </a:defRPr>
            </a:pPr>
            <a:r>
              <a:t>$10.9K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6032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F8C8D"/>
                </a:solidFill>
                <a:latin typeface="Calibri"/>
              </a:defRPr>
            </a:pPr>
            <a:r>
              <a:t>Total Revenue</a:t>
            </a:r>
          </a:p>
        </p:txBody>
      </p:sp>
      <p:pic>
        <p:nvPicPr>
          <p:cNvPr id="15" name="Picture 14" descr="04_revenue_by_i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2926080"/>
            <a:ext cx="5638800" cy="33832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4400" y="6384175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  <a:latin typeface="Calibri"/>
              </a:defRPr>
            </a:pPr>
            <a:r>
              <a:rPr dirty="0"/>
              <a:t>Diamond Pack ($49.99) drives 62% of revenue - premium monetization 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  <a:latin typeface="Calibr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DF630-D9DC-C226-E7C9-24F1BEC13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D1D841-0DA7-F4BB-0C51-D656B980880B}"/>
              </a:ext>
            </a:extLst>
          </p:cNvPr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  <a:latin typeface="Calibri"/>
              </a:defRPr>
            </a:pPr>
            <a:r>
              <a:t>Monetization Success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EA3B95A-5E71-711E-E3D3-4CBEB5921D2E}"/>
              </a:ext>
            </a:extLst>
          </p:cNvPr>
          <p:cNvSpPr/>
          <p:nvPr/>
        </p:nvSpPr>
        <p:spPr>
          <a:xfrm>
            <a:off x="1097280" y="1463040"/>
            <a:ext cx="1554480" cy="10058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CF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4DA6D8-7CFD-F0C5-B42A-60653E20EB74}"/>
              </a:ext>
            </a:extLst>
          </p:cNvPr>
          <p:cNvSpPr txBox="1"/>
          <p:nvPr/>
        </p:nvSpPr>
        <p:spPr>
          <a:xfrm>
            <a:off x="1097280" y="1600200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ECC71"/>
                </a:solidFill>
                <a:latin typeface="Calibri"/>
              </a:defRPr>
            </a:pPr>
            <a:r>
              <a:rPr dirty="0"/>
              <a:t>$10.86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BD42A1-CDC7-87E7-D456-D0C24AC35C78}"/>
              </a:ext>
            </a:extLst>
          </p:cNvPr>
          <p:cNvSpPr txBox="1"/>
          <p:nvPr/>
        </p:nvSpPr>
        <p:spPr>
          <a:xfrm>
            <a:off x="1097280" y="256032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F8C8D"/>
                </a:solidFill>
                <a:latin typeface="Calibri"/>
              </a:defRPr>
            </a:pPr>
            <a:r>
              <a:t>ARPU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8DF3CD4-5CC2-CE51-B5FD-D85381241F25}"/>
              </a:ext>
            </a:extLst>
          </p:cNvPr>
          <p:cNvSpPr/>
          <p:nvPr/>
        </p:nvSpPr>
        <p:spPr>
          <a:xfrm>
            <a:off x="2926080" y="1463040"/>
            <a:ext cx="1554480" cy="10058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CF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D605B2-0EDF-B9D6-41BD-F87ABA498388}"/>
              </a:ext>
            </a:extLst>
          </p:cNvPr>
          <p:cNvSpPr txBox="1"/>
          <p:nvPr/>
        </p:nvSpPr>
        <p:spPr>
          <a:xfrm>
            <a:off x="2926080" y="1600200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ECC71"/>
                </a:solidFill>
                <a:latin typeface="Calibri"/>
              </a:defRPr>
            </a:pPr>
            <a:r>
              <a:rPr dirty="0"/>
              <a:t>$21.07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B7C85F-B87C-9883-B2BB-084544A88567}"/>
              </a:ext>
            </a:extLst>
          </p:cNvPr>
          <p:cNvSpPr txBox="1"/>
          <p:nvPr/>
        </p:nvSpPr>
        <p:spPr>
          <a:xfrm>
            <a:off x="2926080" y="256032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F8C8D"/>
                </a:solidFill>
                <a:latin typeface="Calibri"/>
              </a:defRPr>
            </a:pPr>
            <a:r>
              <a:t>ARPPU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7C48A71-2C03-9770-999D-726F6C80D26A}"/>
              </a:ext>
            </a:extLst>
          </p:cNvPr>
          <p:cNvSpPr/>
          <p:nvPr/>
        </p:nvSpPr>
        <p:spPr>
          <a:xfrm>
            <a:off x="4754880" y="1463040"/>
            <a:ext cx="1554480" cy="10058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CF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4BF583-FA31-B847-3C24-8B56D8E8532F}"/>
              </a:ext>
            </a:extLst>
          </p:cNvPr>
          <p:cNvSpPr txBox="1"/>
          <p:nvPr/>
        </p:nvSpPr>
        <p:spPr>
          <a:xfrm>
            <a:off x="4754880" y="1600200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ECC71"/>
                </a:solidFill>
                <a:latin typeface="Calibri"/>
              </a:defRPr>
            </a:pPr>
            <a:r>
              <a:t>51.5%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EF9B9D-E0F9-FF22-1726-065E10821F56}"/>
              </a:ext>
            </a:extLst>
          </p:cNvPr>
          <p:cNvSpPr txBox="1"/>
          <p:nvPr/>
        </p:nvSpPr>
        <p:spPr>
          <a:xfrm>
            <a:off x="4754880" y="256032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F8C8D"/>
                </a:solidFill>
                <a:latin typeface="Calibri"/>
              </a:defRPr>
            </a:pPr>
            <a:r>
              <a:t>Conversion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6DDCF53-A631-8911-3D9D-F960047EB431}"/>
              </a:ext>
            </a:extLst>
          </p:cNvPr>
          <p:cNvSpPr/>
          <p:nvPr/>
        </p:nvSpPr>
        <p:spPr>
          <a:xfrm>
            <a:off x="6583680" y="1463040"/>
            <a:ext cx="1554480" cy="10058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CF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129C02-26B8-9E66-625E-04C4CEF2A40E}"/>
              </a:ext>
            </a:extLst>
          </p:cNvPr>
          <p:cNvSpPr txBox="1"/>
          <p:nvPr/>
        </p:nvSpPr>
        <p:spPr>
          <a:xfrm>
            <a:off x="6583680" y="1600200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ECC71"/>
                </a:solidFill>
                <a:latin typeface="Calibri"/>
              </a:defRPr>
            </a:pPr>
            <a:r>
              <a:t>$10.9K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8923A1-5C3A-5084-8688-9D985540F3F2}"/>
              </a:ext>
            </a:extLst>
          </p:cNvPr>
          <p:cNvSpPr txBox="1"/>
          <p:nvPr/>
        </p:nvSpPr>
        <p:spPr>
          <a:xfrm>
            <a:off x="6583680" y="256032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F8C8D"/>
                </a:solidFill>
                <a:latin typeface="Calibri"/>
              </a:defRPr>
            </a:pPr>
            <a:r>
              <a:t>Total Revenue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8C2941-5FD6-3421-7D57-B676F93DFDA5}"/>
              </a:ext>
            </a:extLst>
          </p:cNvPr>
          <p:cNvSpPr txBox="1"/>
          <p:nvPr/>
        </p:nvSpPr>
        <p:spPr>
          <a:xfrm>
            <a:off x="914400" y="6384175"/>
            <a:ext cx="7315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  <a:latin typeface="Calibri"/>
              </a:defRPr>
            </a:pPr>
            <a:r>
              <a:rPr lang="en-US" dirty="0"/>
              <a:t>Further Clue Aggregated by Country and Age Group</a:t>
            </a:r>
            <a:endParaRPr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C2F0EA-2AA2-D509-6F51-6161518CEC14}"/>
              </a:ext>
            </a:extLst>
          </p:cNvPr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  <a:latin typeface="Calibri"/>
              </a:defRPr>
            </a:pPr>
            <a:r>
              <a:t>7/10</a:t>
            </a:r>
          </a:p>
        </p:txBody>
      </p:sp>
      <p:pic>
        <p:nvPicPr>
          <p:cNvPr id="19" name="Picture 18" descr="A graph with orange bars&#10;&#10;AI-generated content may be incorrect.">
            <a:extLst>
              <a:ext uri="{FF2B5EF4-FFF2-40B4-BE49-F238E27FC236}">
                <a16:creationId xmlns:a16="http://schemas.microsoft.com/office/drawing/2014/main" id="{D4D41CD6-228C-A320-93D1-A1EAE9346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3324675"/>
            <a:ext cx="4434840" cy="2660904"/>
          </a:xfrm>
          <a:prstGeom prst="rect">
            <a:avLst/>
          </a:prstGeom>
        </p:spPr>
      </p:pic>
      <p:pic>
        <p:nvPicPr>
          <p:cNvPr id="21" name="Picture 20" descr="A graph of a group&#10;&#10;AI-generated content may be incorrect.">
            <a:extLst>
              <a:ext uri="{FF2B5EF4-FFF2-40B4-BE49-F238E27FC236}">
                <a16:creationId xmlns:a16="http://schemas.microsoft.com/office/drawing/2014/main" id="{B0382C1D-D6EA-7F2F-B82E-EF198EF70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324675"/>
            <a:ext cx="4520538" cy="271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450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hart with numbers and a number of people&#10;&#10;AI-generated content may be incorrect.">
            <a:extLst>
              <a:ext uri="{FF2B5EF4-FFF2-40B4-BE49-F238E27FC236}">
                <a16:creationId xmlns:a16="http://schemas.microsoft.com/office/drawing/2014/main" id="{EAE6632C-2896-68F4-8C3C-BE8606710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595437"/>
            <a:ext cx="6315076" cy="526256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  <a:latin typeface="Calibri"/>
              </a:defRPr>
            </a:pPr>
            <a:r>
              <a:t>High-Value Demographics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15075" y="1645920"/>
            <a:ext cx="2554605" cy="3883343"/>
          </a:xfrm>
          <a:prstGeom prst="roundRect">
            <a:avLst/>
          </a:prstGeom>
          <a:solidFill>
            <a:srgbClr val="F8F9FA"/>
          </a:solidFill>
          <a:ln w="63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3600000" scaled="0"/>
            </a:gradFill>
          </a:ln>
          <a:effectLst>
            <a:glow rad="579646">
              <a:schemeClr val="accent1">
                <a:lumMod val="60000"/>
                <a:lumOff val="40000"/>
                <a:alpha val="5000"/>
              </a:schemeClr>
            </a:glow>
            <a:outerShdw blurRad="387716" dist="38100" dir="2700000" algn="tl" rotWithShape="0">
              <a:prstClr val="black">
                <a:alpha val="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00812" y="2069226"/>
            <a:ext cx="2185988" cy="3036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498DB"/>
                </a:solidFill>
                <a:latin typeface="Calibri"/>
              </a:defRPr>
            </a:pPr>
            <a:r>
              <a:rPr dirty="0"/>
              <a:t>Top Markets: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rPr dirty="0"/>
              <a:t>• Suriname: $39.19 ARPU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rPr dirty="0"/>
              <a:t>• Ireland: $22.98 ARPU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endParaRPr dirty="0"/>
          </a:p>
          <a:p>
            <a:pPr>
              <a:spcAft>
                <a:spcPts val="800"/>
              </a:spcAft>
              <a:defRPr sz="1600" b="1">
                <a:solidFill>
                  <a:srgbClr val="3498DB"/>
                </a:solidFill>
                <a:latin typeface="Calibri"/>
              </a:defRPr>
            </a:pPr>
            <a:r>
              <a:rPr dirty="0"/>
              <a:t>Best Age Group: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rPr dirty="0"/>
              <a:t>• 18-25: $13.38 ARPU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endParaRPr dirty="0"/>
          </a:p>
          <a:p>
            <a:pPr>
              <a:spcAft>
                <a:spcPts val="800"/>
              </a:spcAft>
              <a:defRPr sz="1600" b="1">
                <a:solidFill>
                  <a:srgbClr val="3498DB"/>
                </a:solidFill>
                <a:latin typeface="Calibri"/>
              </a:defRPr>
            </a:pPr>
            <a:r>
              <a:rPr dirty="0"/>
              <a:t>High-Value Profile: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rPr dirty="0"/>
              <a:t>Ireland + 18-25 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  <a:latin typeface="Calibr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  <a:latin typeface="Calibri"/>
              </a:defRPr>
            </a:pPr>
            <a:r>
              <a:rPr dirty="0"/>
              <a:t>Key Findings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69494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rPr lang="en-US" dirty="0"/>
              <a:t>10.2</a:t>
            </a:r>
            <a:r>
              <a:rPr dirty="0"/>
              <a:t>% </a:t>
            </a:r>
            <a:r>
              <a:rPr lang="en-US" dirty="0"/>
              <a:t>D7 </a:t>
            </a:r>
            <a:r>
              <a:rPr dirty="0"/>
              <a:t>retention → Protect core gameplay loop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rPr dirty="0"/>
              <a:t>51.5% conversion → Focus on ARPPU growth, not conversion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rPr dirty="0"/>
              <a:t>Diamond Pack dominance → Expand $50-$100 premium tier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rPr dirty="0"/>
              <a:t>Geographic winners → Target Ireland, Suriname, Brazil for UA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06285" y="5212080"/>
            <a:ext cx="6531429" cy="91440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alpha val="40687"/>
                  <a:lumMod val="73000"/>
                </a:schemeClr>
              </a:gs>
              <a:gs pos="48000">
                <a:schemeClr val="accent6">
                  <a:lumMod val="97421"/>
                  <a:lumOff val="2579"/>
                  <a:alpha val="76000"/>
                </a:schemeClr>
              </a:gs>
              <a:gs pos="100000">
                <a:schemeClr val="accent4">
                  <a:alpha val="67000"/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6350">
            <a:noFill/>
          </a:ln>
          <a:effectLst>
            <a:outerShdw blurRad="535990" sx="98000" sy="98000" algn="ctr" rotWithShape="0">
              <a:prstClr val="black">
                <a:alpha val="18347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06286" y="53035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Action: Scale premium monetization for +31% revenue potential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  <a:latin typeface="Calibr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  <a:latin typeface="Calibri"/>
              </a:defRPr>
            </a:pPr>
            <a:r>
              <a:rPr dirty="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7275" y="1363773"/>
            <a:ext cx="167013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498DB"/>
                </a:solidFill>
                <a:latin typeface="Calibri"/>
              </a:defRPr>
            </a:pPr>
            <a:r>
              <a:rPr dirty="0"/>
              <a:t>Gather &amp;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1595" y="1729533"/>
            <a:ext cx="312899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ECC71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Normalized DB with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proper indexes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1595" y="2022141"/>
            <a:ext cx="33407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ECC71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Non-intrusive async data transmission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1595" y="2314749"/>
            <a:ext cx="29160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ECC71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SOLID principles &amp; modular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7275" y="2717085"/>
            <a:ext cx="105144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498DB"/>
                </a:solidFill>
                <a:latin typeface="Calibri"/>
              </a:defRPr>
            </a:pPr>
            <a:r>
              <a:rPr dirty="0"/>
              <a:t>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1595" y="3082845"/>
            <a:ext cx="316311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ECC71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Correct KPI calculations with 95% 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1595" y="3375453"/>
            <a:ext cx="316413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ECC71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Statistical rigor &amp; hypothesis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1595" y="3668061"/>
            <a:ext cx="270118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ECC71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Efficient, reusable SQL queries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7275" y="4070397"/>
            <a:ext cx="112383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498DB"/>
                </a:solidFill>
                <a:latin typeface="Calibri"/>
              </a:defRPr>
            </a:pPr>
            <a:r>
              <a:rPr dirty="0"/>
              <a:t>Reporting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1595" y="4436157"/>
            <a:ext cx="262680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ECC71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Clear visualizations &amp; insights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1595" y="4796119"/>
            <a:ext cx="339875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ECC71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Actionable business recommendations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599" y="5639593"/>
            <a:ext cx="6185807" cy="761207"/>
          </a:xfrm>
          <a:prstGeom prst="roundRect">
            <a:avLst/>
          </a:prstGeom>
          <a:gradFill flip="none" rotWithShape="1">
            <a:gsLst>
              <a:gs pos="69000">
                <a:srgbClr val="CEDCE0">
                  <a:lumMod val="38000"/>
                  <a:lumOff val="62000"/>
                </a:srgbClr>
              </a:gs>
              <a:gs pos="100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6350" cap="rnd">
            <a:noFill/>
          </a:ln>
          <a:effectLst>
            <a:outerShdw blurRad="386222" dir="3000000" algn="tl" rotWithShape="0">
              <a:prstClr val="black">
                <a:alpha val="14955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86593" y="5697030"/>
            <a:ext cx="59708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C3E50"/>
                </a:solidFill>
                <a:latin typeface="Calibri"/>
              </a:defRPr>
            </a:pPr>
            <a:r>
              <a:rPr dirty="0"/>
              <a:t>Production-ready analytics pipeline converting data into $3K+ revenue opportunities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  <a:latin typeface="Calibri"/>
              </a:defRPr>
            </a:pPr>
            <a:r>
              <a:t>10/10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B603CE-20D5-E94A-9EAE-FA9613383EB1}"/>
              </a:ext>
            </a:extLst>
          </p:cNvPr>
          <p:cNvSpPr txBox="1"/>
          <p:nvPr/>
        </p:nvSpPr>
        <p:spPr>
          <a:xfrm>
            <a:off x="4730346" y="1363773"/>
            <a:ext cx="206864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498DB"/>
                </a:solidFill>
                <a:latin typeface="Calibri"/>
              </a:defRPr>
            </a:pPr>
            <a:r>
              <a:rPr lang="en-US" dirty="0"/>
              <a:t>Pipeline Limitations</a:t>
            </a:r>
            <a:endParaRPr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2C7852-E14E-D3DE-D61A-829CECB02F12}"/>
              </a:ext>
            </a:extLst>
          </p:cNvPr>
          <p:cNvSpPr txBox="1"/>
          <p:nvPr/>
        </p:nvSpPr>
        <p:spPr>
          <a:xfrm>
            <a:off x="5067674" y="1901844"/>
            <a:ext cx="2913202" cy="374571"/>
          </a:xfrm>
          <a:prstGeom prst="roundRect">
            <a:avLst/>
          </a:prstGeom>
          <a:solidFill>
            <a:srgbClr val="D5F5FF"/>
          </a:solidFill>
          <a:effectLst>
            <a:outerShdw blurRad="214469" dist="50800" dir="5400000" sx="104000" sy="104000" algn="ctr" rotWithShape="0">
              <a:srgbClr val="000000">
                <a:alpha val="3877"/>
              </a:srgbClr>
            </a:outerShdw>
            <a:softEdge rad="0"/>
          </a:effectLst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Simulated data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E598E0-BD47-4581-C83D-041603DB522F}"/>
              </a:ext>
            </a:extLst>
          </p:cNvPr>
          <p:cNvSpPr txBox="1"/>
          <p:nvPr/>
        </p:nvSpPr>
        <p:spPr>
          <a:xfrm>
            <a:off x="5078350" y="2565455"/>
            <a:ext cx="2913202" cy="374571"/>
          </a:xfrm>
          <a:prstGeom prst="roundRect">
            <a:avLst/>
          </a:prstGeom>
          <a:solidFill>
            <a:srgbClr val="D5F5FF"/>
          </a:solidFill>
          <a:effectLst>
            <a:outerShdw blurRad="214469" dist="50800" dir="5400000" sx="104000" sy="104000" algn="ctr" rotWithShape="0">
              <a:srgbClr val="000000">
                <a:alpha val="3877"/>
              </a:srgbClr>
            </a:outerShdw>
            <a:softEdge rad="0"/>
          </a:effectLst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Sample size of 100 users/cycle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8B66A16-2734-11C7-7D32-10D6A3B9DEB7}"/>
              </a:ext>
            </a:extLst>
          </p:cNvPr>
          <p:cNvSpPr txBox="1"/>
          <p:nvPr/>
        </p:nvSpPr>
        <p:spPr>
          <a:xfrm>
            <a:off x="5078350" y="3231069"/>
            <a:ext cx="2913202" cy="374571"/>
          </a:xfrm>
          <a:prstGeom prst="roundRect">
            <a:avLst/>
          </a:prstGeom>
          <a:solidFill>
            <a:srgbClr val="D5F5FF"/>
          </a:solidFill>
          <a:effectLst>
            <a:outerShdw blurRad="214469" dist="50800" dir="5400000" sx="104000" sy="104000" algn="ctr" rotWithShape="0">
              <a:srgbClr val="000000">
                <a:alpha val="3877"/>
              </a:srgbClr>
            </a:outerShdw>
            <a:softEdge rad="0"/>
          </a:effectLst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Short time window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F75267-589E-6672-C9C4-6141595738AD}"/>
              </a:ext>
            </a:extLst>
          </p:cNvPr>
          <p:cNvSpPr txBox="1"/>
          <p:nvPr/>
        </p:nvSpPr>
        <p:spPr>
          <a:xfrm>
            <a:off x="5067674" y="3898132"/>
            <a:ext cx="2913202" cy="374571"/>
          </a:xfrm>
          <a:prstGeom prst="roundRect">
            <a:avLst/>
          </a:prstGeom>
          <a:solidFill>
            <a:srgbClr val="D5F5FF"/>
          </a:solidFill>
          <a:effectLst>
            <a:outerShdw blurRad="214469" dist="50800" dir="5400000" sx="104000" sy="104000" algn="ctr" rotWithShape="0">
              <a:srgbClr val="000000">
                <a:alpha val="3877"/>
              </a:srgbClr>
            </a:outerShdw>
            <a:softEdge rad="0"/>
          </a:effectLst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No experimental design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AC7177-44C5-9ACE-ABFB-987176137427}"/>
              </a:ext>
            </a:extLst>
          </p:cNvPr>
          <p:cNvSpPr txBox="1"/>
          <p:nvPr/>
        </p:nvSpPr>
        <p:spPr>
          <a:xfrm>
            <a:off x="5067674" y="4565555"/>
            <a:ext cx="2913202" cy="646986"/>
          </a:xfrm>
          <a:prstGeom prst="roundRect">
            <a:avLst/>
          </a:prstGeom>
          <a:solidFill>
            <a:srgbClr val="D5F5FF"/>
          </a:solidFill>
          <a:effectLst>
            <a:outerShdw blurRad="214469" dist="50800" dir="5400000" sx="104000" sy="104000" algn="ctr" rotWithShape="0">
              <a:srgbClr val="000000">
                <a:alpha val="3877"/>
              </a:srgbClr>
            </a:outerShdw>
            <a:softEdge rad="0"/>
          </a:effectLst>
        </p:spPr>
        <p:txBody>
          <a:bodyPr wrap="square" rtlCol="0">
            <a:spAutoFit/>
          </a:bodyPr>
          <a:lstStyle/>
          <a:p>
            <a:pPr lvl="0">
              <a:spcAft>
                <a:spcPts val="600"/>
              </a:spcAft>
              <a:defRPr/>
            </a:pPr>
            <a:r>
              <a:rPr lang="en-US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Retention metrics limited by simulation time constraints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B6BCC-C0F4-1EDE-65C9-17502ADA0D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571749"/>
            <a:ext cx="7772400" cy="99377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  <a:latin typeface="+mn-lt"/>
                <a:ea typeface="Apple Symbols" panose="02000000000000000000" pitchFamily="2" charset="-79"/>
                <a:cs typeface="Apple Symbols" panose="02000000000000000000" pitchFamily="2" charset="-79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61961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1519</TotalTime>
  <Words>491</Words>
  <Application>Microsoft Macintosh PowerPoint</Application>
  <PresentationFormat>On-screen Show (4:3)</PresentationFormat>
  <Paragraphs>147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yiwei ye</cp:lastModifiedBy>
  <cp:revision>23</cp:revision>
  <dcterms:created xsi:type="dcterms:W3CDTF">2013-01-27T09:14:16Z</dcterms:created>
  <dcterms:modified xsi:type="dcterms:W3CDTF">2025-11-07T13:36:13Z</dcterms:modified>
  <cp:category/>
</cp:coreProperties>
</file>