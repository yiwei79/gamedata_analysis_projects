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5F5FF"/>
    <a:srgbClr val="F1FBFF"/>
    <a:srgbClr val="EBF9DA"/>
    <a:srgbClr val="D2DEC3"/>
    <a:srgbClr val="FFFDE0"/>
    <a:srgbClr val="F9FFEF"/>
    <a:srgbClr val="F5FFE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76"/>
    <p:restoredTop sz="94655"/>
  </p:normalViewPr>
  <p:slideViewPr>
    <p:cSldViewPr snapToGrid="0" snapToObjects="1">
      <p:cViewPr varScale="1">
        <p:scale>
          <a:sx n="117" d="100"/>
          <a:sy n="117" d="100"/>
        </p:scale>
        <p:origin x="61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1555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140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504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5830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11/7/25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5558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6944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11/7/25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06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5110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3107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2401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2610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0325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7315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2C3E50"/>
                </a:solidFill>
                <a:latin typeface="Calibri"/>
              </a:defRPr>
            </a:pPr>
            <a:r>
              <a:rPr dirty="0"/>
              <a:t>Game Analytics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>
                <a:solidFill>
                  <a:srgbClr val="3498DB"/>
                </a:solidFill>
                <a:latin typeface="Calibri"/>
              </a:defRPr>
            </a:pPr>
            <a:r>
              <a:t>KPI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212121"/>
                </a:solidFill>
                <a:latin typeface="Calibri"/>
              </a:defRPr>
            </a:pPr>
            <a:r>
              <a:t>Yiwei Ye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F8C8D"/>
                </a:solidFill>
                <a:latin typeface="Calibri"/>
              </a:defRPr>
            </a:pPr>
            <a:r>
              <a:t>KPIs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2C6FA2A3-5E89-FC2E-736F-2AEC5929A28C}"/>
              </a:ext>
            </a:extLst>
          </p:cNvPr>
          <p:cNvSpPr/>
          <p:nvPr/>
        </p:nvSpPr>
        <p:spPr>
          <a:xfrm>
            <a:off x="7040880" y="2286000"/>
            <a:ext cx="1188720" cy="914400"/>
          </a:xfrm>
          <a:prstGeom prst="roundRect">
            <a:avLst/>
          </a:prstGeom>
          <a:solidFill>
            <a:srgbClr val="F9FFEF"/>
          </a:solidFill>
          <a:ln w="635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</a:ln>
          <a:effectLst>
            <a:glow rad="642660">
              <a:srgbClr val="EBF9DA">
                <a:alpha val="4000"/>
              </a:srgbClr>
            </a:glow>
            <a:outerShdw blurRad="353782" dist="38100" dir="2520000" algn="tl" rotWithShape="0">
              <a:prstClr val="black">
                <a:alpha val="9609"/>
              </a:prstClr>
            </a:outerShdw>
            <a:softEdge rad="127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7BEE875B-1D82-F136-6EE6-F3881BF35BA8}"/>
              </a:ext>
            </a:extLst>
          </p:cNvPr>
          <p:cNvSpPr/>
          <p:nvPr/>
        </p:nvSpPr>
        <p:spPr>
          <a:xfrm>
            <a:off x="5463540" y="2286000"/>
            <a:ext cx="1188720" cy="914400"/>
          </a:xfrm>
          <a:prstGeom prst="roundRect">
            <a:avLst/>
          </a:prstGeom>
          <a:solidFill>
            <a:srgbClr val="F9FFEF"/>
          </a:solidFill>
          <a:ln w="635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</a:ln>
          <a:effectLst>
            <a:glow rad="642660">
              <a:srgbClr val="EBF9DA">
                <a:alpha val="4000"/>
              </a:srgbClr>
            </a:glow>
            <a:outerShdw blurRad="353782" dist="38100" dir="2520000" algn="tl" rotWithShape="0">
              <a:prstClr val="black">
                <a:alpha val="9609"/>
              </a:prstClr>
            </a:outerShdw>
            <a:softEdge rad="127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7FDD2CF4-19E7-8715-B6AF-6392F014021A}"/>
              </a:ext>
            </a:extLst>
          </p:cNvPr>
          <p:cNvSpPr/>
          <p:nvPr/>
        </p:nvSpPr>
        <p:spPr>
          <a:xfrm>
            <a:off x="3943350" y="2286000"/>
            <a:ext cx="1188720" cy="914400"/>
          </a:xfrm>
          <a:prstGeom prst="roundRect">
            <a:avLst/>
          </a:prstGeom>
          <a:solidFill>
            <a:srgbClr val="F9FFEF"/>
          </a:solidFill>
          <a:ln w="635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</a:ln>
          <a:effectLst>
            <a:glow rad="642660">
              <a:srgbClr val="EBF9DA">
                <a:alpha val="4000"/>
              </a:srgbClr>
            </a:glow>
            <a:outerShdw blurRad="353782" dist="38100" dir="2520000" algn="tl" rotWithShape="0">
              <a:prstClr val="black">
                <a:alpha val="9609"/>
              </a:prstClr>
            </a:outerShdw>
            <a:softEdge rad="127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36305CF9-279A-E36A-52CC-35359FFF9C26}"/>
              </a:ext>
            </a:extLst>
          </p:cNvPr>
          <p:cNvSpPr/>
          <p:nvPr/>
        </p:nvSpPr>
        <p:spPr>
          <a:xfrm>
            <a:off x="2457450" y="2258347"/>
            <a:ext cx="1188720" cy="914400"/>
          </a:xfrm>
          <a:prstGeom prst="roundRect">
            <a:avLst/>
          </a:prstGeom>
          <a:solidFill>
            <a:srgbClr val="F9FFEF"/>
          </a:solidFill>
          <a:ln w="635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</a:ln>
          <a:effectLst>
            <a:glow rad="642660">
              <a:srgbClr val="EBF9DA">
                <a:alpha val="4000"/>
              </a:srgbClr>
            </a:glow>
            <a:outerShdw blurRad="353782" dist="38100" dir="2520000" algn="tl" rotWithShape="0">
              <a:prstClr val="black">
                <a:alpha val="9609"/>
              </a:prstClr>
            </a:outerShdw>
            <a:softEdge rad="127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C3E50"/>
                </a:solidFill>
                <a:latin typeface="Calibri"/>
              </a:defRPr>
            </a:pPr>
            <a:r>
              <a:t>Pipeline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60120" y="2286000"/>
            <a:ext cx="1188720" cy="914400"/>
          </a:xfrm>
          <a:prstGeom prst="roundRect">
            <a:avLst/>
          </a:prstGeom>
          <a:solidFill>
            <a:srgbClr val="F9FFEF"/>
          </a:solidFill>
          <a:ln w="635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</a:ln>
          <a:effectLst>
            <a:glow rad="642660">
              <a:srgbClr val="EBF9DA">
                <a:alpha val="4000"/>
              </a:srgbClr>
            </a:glow>
            <a:outerShdw blurRad="353782" dist="38100" dir="2520000" algn="tl" rotWithShape="0">
              <a:prstClr val="black">
                <a:alpha val="9609"/>
              </a:prstClr>
            </a:outerShdw>
            <a:softEdge rad="127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10677" y="2450813"/>
            <a:ext cx="1087605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3498DB"/>
                </a:solidFill>
                <a:latin typeface="Calibri"/>
              </a:defRPr>
            </a:pPr>
            <a:r>
              <a:rPr dirty="0"/>
              <a:t>Unity</a:t>
            </a:r>
          </a:p>
          <a:p>
            <a:pPr algn="ctr"/>
            <a:r>
              <a:rPr dirty="0"/>
              <a:t>Simulator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148840" y="2697480"/>
            <a:ext cx="320040" cy="91440"/>
          </a:xfrm>
          <a:prstGeom prst="rightArrow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549477" y="2450813"/>
            <a:ext cx="1027525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3498DB"/>
                </a:solidFill>
                <a:latin typeface="Calibri"/>
              </a:defRPr>
            </a:pPr>
            <a:r>
              <a:rPr dirty="0"/>
              <a:t>Analytics</a:t>
            </a:r>
          </a:p>
          <a:p>
            <a:pPr algn="ctr"/>
            <a:r>
              <a:rPr dirty="0"/>
              <a:t>Manager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623310" y="2697480"/>
            <a:ext cx="320040" cy="91440"/>
          </a:xfrm>
          <a:prstGeom prst="rightArrow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050749" y="2450813"/>
            <a:ext cx="973921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3498DB"/>
                </a:solidFill>
                <a:latin typeface="Calibri"/>
              </a:defRPr>
            </a:pPr>
            <a:r>
              <a:rPr dirty="0"/>
              <a:t>PHP</a:t>
            </a:r>
          </a:p>
          <a:p>
            <a:pPr algn="ctr"/>
            <a:r>
              <a:rPr dirty="0"/>
              <a:t>Backend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109210" y="2743200"/>
            <a:ext cx="320040" cy="91440"/>
          </a:xfrm>
          <a:prstGeom prst="rightArrow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63540" y="2514600"/>
            <a:ext cx="118872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3498DB"/>
                </a:solidFill>
                <a:latin typeface="Calibri"/>
              </a:defRPr>
            </a:pPr>
            <a:r>
              <a:rPr dirty="0"/>
              <a:t>MySQL</a:t>
            </a:r>
          </a:p>
          <a:p>
            <a:pPr algn="ctr"/>
            <a:r>
              <a:rPr dirty="0"/>
              <a:t>Database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675120" y="2715547"/>
            <a:ext cx="320040" cy="91440"/>
          </a:xfrm>
          <a:prstGeom prst="rightArrow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166458" y="2450813"/>
            <a:ext cx="937564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400" b="1">
                <a:solidFill>
                  <a:srgbClr val="3498DB"/>
                </a:solidFill>
                <a:latin typeface="Calibri"/>
              </a:defRPr>
            </a:pPr>
            <a:r>
              <a:rPr dirty="0"/>
              <a:t>R</a:t>
            </a:r>
          </a:p>
          <a:p>
            <a:pPr algn="ctr"/>
            <a:r>
              <a:rPr dirty="0"/>
              <a:t>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148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rPr dirty="0"/>
              <a:t>Non-intrusive event subscription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rPr dirty="0"/>
              <a:t>Async coroutines (Unity → PHP)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rPr dirty="0"/>
              <a:t>Prepared statements (SQL injection prevention)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rPr dirty="0"/>
              <a:t>Normalized database schema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F8C8D"/>
                </a:solidFill>
                <a:latin typeface="Calibri"/>
              </a:defRPr>
            </a:pPr>
            <a:r>
              <a:t>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C3E50"/>
                </a:solidFill>
                <a:latin typeface="Calibri"/>
              </a:defRPr>
            </a:pPr>
            <a:r>
              <a:rPr dirty="0"/>
              <a:t>Database Design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1819025"/>
            <a:ext cx="2743200" cy="1508760"/>
          </a:xfrm>
          <a:prstGeom prst="roundRect">
            <a:avLst/>
          </a:prstGeom>
          <a:solidFill>
            <a:srgbClr val="FFFFFF"/>
          </a:solidFill>
          <a:ln w="635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glow rad="919951">
              <a:schemeClr val="accent6">
                <a:lumMod val="20000"/>
                <a:lumOff val="80000"/>
                <a:alpha val="5000"/>
              </a:schemeClr>
            </a:glow>
            <a:outerShdw blurRad="1003435" dist="38100" dir="2700000" algn="tl" rotWithShape="0">
              <a:prstClr val="black">
                <a:alpha val="3886"/>
              </a:prstClr>
            </a:outerShdw>
            <a:softEdge rad="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0" y="1799476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3498DB"/>
                </a:solidFill>
                <a:latin typeface="Calibri"/>
              </a:defRPr>
            </a:pPr>
            <a:r>
              <a:rPr dirty="0"/>
              <a:t>users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2107936"/>
            <a:ext cx="1765227" cy="120032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 err="1"/>
              <a:t>user_id</a:t>
            </a:r>
            <a:r>
              <a:rPr dirty="0"/>
              <a:t> (PK)</a:t>
            </a:r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/>
              <a:t>username</a:t>
            </a:r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/>
              <a:t>country</a:t>
            </a:r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/>
              <a:t>age</a:t>
            </a:r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lang="en-US" dirty="0"/>
              <a:t>g</a:t>
            </a:r>
            <a:r>
              <a:rPr dirty="0"/>
              <a:t>ender</a:t>
            </a:r>
            <a:endParaRPr lang="en-US" dirty="0"/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lang="en-US" dirty="0"/>
              <a:t>registration_date</a:t>
            </a: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5029200" y="1819025"/>
            <a:ext cx="2743200" cy="1508760"/>
          </a:xfrm>
          <a:prstGeom prst="roundRect">
            <a:avLst/>
          </a:prstGeom>
          <a:solidFill>
            <a:srgbClr val="FFFFFF"/>
          </a:solidFill>
          <a:ln w="635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</a:ln>
          <a:effectLst>
            <a:glow rad="820539">
              <a:schemeClr val="accent6">
                <a:lumMod val="20000"/>
                <a:lumOff val="80000"/>
                <a:alpha val="6000"/>
              </a:schemeClr>
            </a:glow>
            <a:outerShdw blurRad="1058925" dist="38100" dir="2700000" algn="tl" rotWithShape="0">
              <a:prstClr val="black">
                <a:alpha val="2896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0" y="1804855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3498DB"/>
                </a:solidFill>
                <a:latin typeface="Calibri"/>
              </a:defRPr>
            </a:pPr>
            <a:r>
              <a:rPr dirty="0"/>
              <a:t>sessions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2107936"/>
            <a:ext cx="2468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 err="1"/>
              <a:t>session_id</a:t>
            </a:r>
            <a:r>
              <a:rPr dirty="0"/>
              <a:t> (PK)</a:t>
            </a:r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 err="1"/>
              <a:t>user_id</a:t>
            </a:r>
            <a:r>
              <a:rPr dirty="0"/>
              <a:t> (FK)</a:t>
            </a:r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 err="1"/>
              <a:t>start_time</a:t>
            </a:r>
            <a:endParaRPr dirty="0"/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 err="1"/>
              <a:t>end_time</a:t>
            </a:r>
            <a:endParaRPr dirty="0"/>
          </a:p>
        </p:txBody>
      </p:sp>
      <p:sp>
        <p:nvSpPr>
          <p:cNvPr id="9" name="Rounded Rectangle 8"/>
          <p:cNvSpPr/>
          <p:nvPr/>
        </p:nvSpPr>
        <p:spPr>
          <a:xfrm>
            <a:off x="1371600" y="3922145"/>
            <a:ext cx="2743200" cy="1280160"/>
          </a:xfrm>
          <a:prstGeom prst="roundRect">
            <a:avLst/>
          </a:prstGeom>
          <a:solidFill>
            <a:srgbClr val="FFFFFF"/>
          </a:solidFill>
          <a:ln w="635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glow rad="635000">
              <a:schemeClr val="accent6">
                <a:lumMod val="20000"/>
                <a:lumOff val="80000"/>
                <a:alpha val="5000"/>
              </a:schemeClr>
            </a:glow>
            <a:outerShdw blurRad="1138143" dist="38100" dir="2700000" algn="tl" rotWithShape="0">
              <a:prstClr val="black">
                <a:alpha val="4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71600" y="3922145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3498DB"/>
                </a:solidFill>
                <a:latin typeface="Calibri"/>
              </a:defRPr>
            </a:pPr>
            <a:r>
              <a:t>purchases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4170301"/>
            <a:ext cx="1672253" cy="10156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/>
              <a:t>purchase_id (PK)</a:t>
            </a:r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/>
              <a:t>user_id (FK)</a:t>
            </a:r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/>
              <a:t>item_id (FK)</a:t>
            </a:r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lang="en-US" dirty="0"/>
              <a:t>amount</a:t>
            </a:r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lang="en-US" dirty="0"/>
              <a:t>purchase_date</a:t>
            </a:r>
            <a:endParaRPr dirty="0"/>
          </a:p>
        </p:txBody>
      </p:sp>
      <p:sp>
        <p:nvSpPr>
          <p:cNvPr id="12" name="Rounded Rectangle 11"/>
          <p:cNvSpPr/>
          <p:nvPr/>
        </p:nvSpPr>
        <p:spPr>
          <a:xfrm>
            <a:off x="5029200" y="3922145"/>
            <a:ext cx="2743200" cy="1280160"/>
          </a:xfrm>
          <a:prstGeom prst="roundRect">
            <a:avLst/>
          </a:prstGeom>
          <a:solidFill>
            <a:srgbClr val="FFFFFF"/>
          </a:solidFill>
          <a:ln w="635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glow rad="635000">
              <a:schemeClr val="accent6">
                <a:lumMod val="20000"/>
                <a:lumOff val="80000"/>
                <a:alpha val="5000"/>
              </a:schemeClr>
            </a:glow>
            <a:outerShdw blurRad="1030412" dist="38100" dir="2700000" algn="tl" rotWithShape="0">
              <a:prstClr val="black">
                <a:alpha val="5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0" y="3922145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3498DB"/>
                </a:solidFill>
                <a:latin typeface="Calibri"/>
              </a:defRPr>
            </a:pPr>
            <a:r>
              <a:rPr dirty="0"/>
              <a:t>items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6360" y="4222636"/>
            <a:ext cx="24688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 err="1"/>
              <a:t>item_id</a:t>
            </a:r>
            <a:r>
              <a:rPr dirty="0"/>
              <a:t> (PK)</a:t>
            </a:r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 err="1"/>
              <a:t>item_name</a:t>
            </a:r>
            <a:endParaRPr dirty="0"/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/>
              <a:t>price</a:t>
            </a:r>
          </a:p>
          <a:p>
            <a:pPr>
              <a:defRPr sz="1200">
                <a:solidFill>
                  <a:srgbClr val="212121"/>
                </a:solidFill>
                <a:latin typeface="Courier New"/>
              </a:defRPr>
            </a:pPr>
            <a:r>
              <a:rPr dirty="0"/>
              <a:t>category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5669280"/>
            <a:ext cx="6400800" cy="548640"/>
          </a:xfrm>
          <a:prstGeom prst="roundRect">
            <a:avLst/>
          </a:prstGeom>
          <a:solidFill>
            <a:srgbClr val="F8F9FA"/>
          </a:solidFill>
          <a:ln w="6350">
            <a:gradFill flip="none" rotWithShape="1">
              <a:gsLst>
                <a:gs pos="0">
                  <a:schemeClr val="accent3">
                    <a:lumMod val="5000"/>
                    <a:lumOff val="95000"/>
                  </a:schemeClr>
                </a:gs>
                <a:gs pos="74000">
                  <a:schemeClr val="accent3">
                    <a:lumMod val="45000"/>
                    <a:lumOff val="55000"/>
                  </a:schemeClr>
                </a:gs>
                <a:gs pos="83000">
                  <a:schemeClr val="accent3">
                    <a:lumMod val="45000"/>
                    <a:lumOff val="55000"/>
                  </a:schemeClr>
                </a:gs>
                <a:gs pos="100000">
                  <a:schemeClr val="accent3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</a:ln>
          <a:effectLst>
            <a:outerShdw blurRad="363631" dist="38100" dir="2700000" algn="tl" rotWithShape="0">
              <a:prstClr val="black">
                <a:alpha val="10422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6400800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2ECC71"/>
                </a:solidFill>
                <a:latin typeface="Calibri"/>
              </a:defRPr>
            </a:pPr>
            <a:r>
              <a:rPr dirty="0"/>
              <a:t>4 Tables | 3 Foreign Keys | </a:t>
            </a:r>
            <a:r>
              <a:rPr lang="en-US" dirty="0"/>
              <a:t>4 - </a:t>
            </a:r>
            <a:r>
              <a:rPr dirty="0"/>
              <a:t>5 Indexes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F8C8D"/>
                </a:solidFill>
                <a:latin typeface="Calibri"/>
              </a:defRPr>
            </a:pPr>
            <a:r>
              <a:t>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C3E50"/>
                </a:solidFill>
                <a:latin typeface="Calibri"/>
              </a:defRPr>
            </a:pPr>
            <a:r>
              <a:rPr dirty="0"/>
              <a:t>Data Quality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185862" y="1828800"/>
            <a:ext cx="18288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85862" y="2103120"/>
            <a:ext cx="1828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3498DB"/>
                </a:solidFill>
                <a:latin typeface="Calibri"/>
              </a:defRPr>
            </a:pPr>
            <a:r>
              <a:rPr dirty="0"/>
              <a:t>1,007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5862" y="2926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F8C8D"/>
                </a:solidFill>
                <a:latin typeface="Calibri"/>
              </a:defRPr>
            </a:pPr>
            <a:r>
              <a:rPr dirty="0"/>
              <a:t>Total Users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0" y="1828800"/>
            <a:ext cx="18288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0" y="2103120"/>
            <a:ext cx="1828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3498DB"/>
                </a:solidFill>
                <a:latin typeface="Calibri"/>
              </a:defRPr>
            </a:pPr>
            <a:r>
              <a:rPr dirty="0"/>
              <a:t>12,611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92608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F8C8D"/>
                </a:solidFill>
                <a:latin typeface="Calibri"/>
              </a:defRPr>
            </a:pPr>
            <a:r>
              <a:rPr dirty="0"/>
              <a:t>Total Sessions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811655"/>
            <a:ext cx="18288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0" y="2085975"/>
            <a:ext cx="1828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3498DB"/>
                </a:solidFill>
                <a:latin typeface="Calibri"/>
              </a:defRPr>
            </a:pPr>
            <a:r>
              <a:t>1,272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908935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F8C8D"/>
                </a:solidFill>
                <a:latin typeface="Calibri"/>
              </a:defRPr>
            </a:pPr>
            <a:r>
              <a:t>Purchases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840480"/>
            <a:ext cx="6400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2ECC71"/>
                </a:solidFill>
                <a:latin typeface="Calibri"/>
              </a:defRPr>
            </a:pPr>
            <a:r>
              <a:rPr dirty="0"/>
              <a:t>364 days coverage  |  51 countries  |  Zero orphaned records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57200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rPr dirty="0"/>
              <a:t>Full Year 2022 - Complete temporal coverage</a:t>
            </a:r>
            <a:endParaRPr lang="en-US" dirty="0"/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rPr lang="en-US" dirty="0"/>
              <a:t>Data Quality - referential integrity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rPr dirty="0"/>
              <a:t>99.99% Complete Sessions - Robust data collection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1800">
                <a:solidFill>
                  <a:srgbClr val="212121"/>
                </a:solidFill>
                <a:latin typeface="Calibri"/>
              </a:defRPr>
            </a:pPr>
            <a:r>
              <a:rPr dirty="0"/>
              <a:t>Global Reach - 51 countries represented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F8C8D"/>
                </a:solidFill>
                <a:latin typeface="Calibri"/>
              </a:defRPr>
            </a:pPr>
            <a:r>
              <a:t>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C3E50"/>
                </a:solidFill>
                <a:latin typeface="Calibri"/>
              </a:defRPr>
            </a:pPr>
            <a:r>
              <a:t>User Engagement</a:t>
            </a:r>
          </a:p>
        </p:txBody>
      </p:sp>
      <p:pic>
        <p:nvPicPr>
          <p:cNvPr id="3" name="Picture 2" descr="01_dau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45920"/>
            <a:ext cx="5669280" cy="340156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6492240" y="1645920"/>
            <a:ext cx="2194560" cy="11887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92240" y="1641455"/>
            <a:ext cx="2194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3498DB"/>
                </a:solidFill>
                <a:latin typeface="Calibri"/>
              </a:defRPr>
            </a:pPr>
            <a:r>
              <a:rPr dirty="0"/>
              <a:t>9.1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72166" y="2170501"/>
            <a:ext cx="103470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F8C8D"/>
                </a:solidFill>
                <a:latin typeface="Calibri"/>
              </a:defRPr>
            </a:pPr>
            <a:r>
              <a:rPr dirty="0"/>
              <a:t>Mean DAU</a:t>
            </a:r>
          </a:p>
          <a:p>
            <a:pPr algn="ctr"/>
            <a:r>
              <a:rPr lang="en-US" dirty="0"/>
              <a:t> </a:t>
            </a:r>
            <a:r>
              <a:rPr dirty="0"/>
              <a:t>[8.6-9.6]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3108960"/>
            <a:ext cx="2194560" cy="11887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92240" y="3104495"/>
            <a:ext cx="2194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3498DB"/>
                </a:solidFill>
                <a:latin typeface="Calibri"/>
              </a:defRPr>
            </a:pPr>
            <a:r>
              <a:rPr dirty="0"/>
              <a:t>88.8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29723" y="3656073"/>
            <a:ext cx="1319592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F8C8D"/>
                </a:solidFill>
                <a:latin typeface="Calibri"/>
              </a:defRPr>
            </a:pPr>
            <a:r>
              <a:rPr dirty="0"/>
              <a:t>Mean MAU</a:t>
            </a:r>
          </a:p>
          <a:p>
            <a:pPr algn="ctr"/>
            <a:r>
              <a:rPr lang="en-US" dirty="0"/>
              <a:t>  </a:t>
            </a:r>
            <a:r>
              <a:rPr dirty="0"/>
              <a:t>[82.8-94.7]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4572000"/>
            <a:ext cx="2194560" cy="11887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92240" y="4638913"/>
            <a:ext cx="219456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3498DB"/>
                </a:solidFill>
                <a:latin typeface="Calibri"/>
              </a:defRPr>
            </a:pPr>
            <a:r>
              <a:rPr dirty="0"/>
              <a:t>10.2%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16484" y="5212080"/>
            <a:ext cx="131311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F8C8D"/>
                </a:solidFill>
                <a:latin typeface="Calibri"/>
              </a:defRPr>
            </a:pPr>
            <a:r>
              <a:rPr dirty="0"/>
              <a:t>Stickiness</a:t>
            </a:r>
            <a:r>
              <a:rPr lang="en-US" dirty="0"/>
              <a:t> Ratio</a:t>
            </a:r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914400" y="621792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0">
                <a:solidFill>
                  <a:srgbClr val="7F8C8D"/>
                </a:solidFill>
                <a:latin typeface="Calibri"/>
              </a:defRPr>
            </a:pPr>
            <a:r>
              <a:rPr dirty="0"/>
              <a:t>Stable engagement with 12.5 sessions per user throughout 2022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F8C8D"/>
                </a:solidFill>
                <a:latin typeface="Calibri"/>
              </a:defRPr>
            </a:pPr>
            <a:r>
              <a:t>5/10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B27733-A43C-56A9-A46F-6C941005CF95}"/>
              </a:ext>
            </a:extLst>
          </p:cNvPr>
          <p:cNvSpPr txBox="1"/>
          <p:nvPr/>
        </p:nvSpPr>
        <p:spPr>
          <a:xfrm>
            <a:off x="890111" y="5320022"/>
            <a:ext cx="4986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Significant Surge Since July 2022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graph with a red line&#10;&#10;AI-generated content may be incorrect.">
            <a:extLst>
              <a:ext uri="{FF2B5EF4-FFF2-40B4-BE49-F238E27FC236}">
                <a16:creationId xmlns:a16="http://schemas.microsoft.com/office/drawing/2014/main" id="{A8CDDB9C-D6FE-A8B4-588F-5C64ACCF51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7" y="2176270"/>
            <a:ext cx="6736083" cy="404165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457200" y="457200"/>
            <a:ext cx="8229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C3E50"/>
                </a:solidFill>
                <a:latin typeface="Calibri"/>
              </a:defRPr>
            </a:pPr>
            <a:r>
              <a:rPr dirty="0"/>
              <a:t>Excellen</a:t>
            </a:r>
            <a:r>
              <a:rPr lang="en-US" dirty="0"/>
              <a:t>t Retention</a:t>
            </a:r>
            <a:endParaRPr dirty="0"/>
          </a:p>
        </p:txBody>
      </p:sp>
      <p:sp>
        <p:nvSpPr>
          <p:cNvPr id="3" name="Rounded Rectangle 2"/>
          <p:cNvSpPr/>
          <p:nvPr/>
        </p:nvSpPr>
        <p:spPr>
          <a:xfrm>
            <a:off x="1099457" y="1371600"/>
            <a:ext cx="7315200" cy="731520"/>
          </a:xfrm>
          <a:prstGeom prst="roundRect">
            <a:avLst/>
          </a:prstGeom>
          <a:solidFill>
            <a:srgbClr val="2ECC71"/>
          </a:solidFill>
          <a:ln w="6350">
            <a:noFill/>
          </a:ln>
          <a:effectLst>
            <a:glow rad="531624">
              <a:schemeClr val="accent3">
                <a:lumMod val="60000"/>
                <a:lumOff val="40000"/>
                <a:alpha val="5905"/>
              </a:schemeClr>
            </a:glow>
            <a:outerShdw blurRad="202427" dist="38100" dir="2700000" algn="tl" rotWithShape="0">
              <a:prstClr val="black">
                <a:alpha val="20592"/>
              </a:prstClr>
            </a:outerShdw>
            <a:softEdge rad="127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9457" y="1491138"/>
            <a:ext cx="7315200" cy="492443"/>
          </a:xfrm>
          <a:prstGeom prst="rect">
            <a:avLst/>
          </a:prstGeom>
          <a:noFill/>
          <a:effectLst>
            <a:glow rad="127000">
              <a:schemeClr val="bg1"/>
            </a:glow>
          </a:effectLst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Calibri"/>
              </a:defRPr>
            </a:pPr>
            <a:r>
              <a:rPr lang="en-US" dirty="0"/>
              <a:t>10.2% </a:t>
            </a:r>
            <a:r>
              <a:rPr dirty="0"/>
              <a:t>D7 Retention</a:t>
            </a:r>
            <a:r>
              <a:rPr lang="en-US" dirty="0"/>
              <a:t> – Solid with Growing Potential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914400" y="6217920"/>
            <a:ext cx="73152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0">
                <a:solidFill>
                  <a:srgbClr val="7F8C8D"/>
                </a:solidFill>
                <a:latin typeface="Calibri"/>
              </a:defRPr>
            </a:pPr>
            <a:r>
              <a:rPr lang="en-US" dirty="0"/>
              <a:t>Solid </a:t>
            </a:r>
            <a:r>
              <a:rPr dirty="0"/>
              <a:t>product-market fit - users who try, stay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F8C8D"/>
                </a:solidFill>
                <a:latin typeface="Calibri"/>
              </a:defRPr>
            </a:pPr>
            <a:r>
              <a:t>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C3E50"/>
                </a:solidFill>
                <a:latin typeface="Calibri"/>
              </a:defRPr>
            </a:pPr>
            <a:r>
              <a:t>Monetization Success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463040"/>
            <a:ext cx="1554480" cy="10058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1600200"/>
            <a:ext cx="1554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2ECC71"/>
                </a:solidFill>
                <a:latin typeface="Calibri"/>
              </a:defRPr>
            </a:pPr>
            <a:r>
              <a:rPr dirty="0"/>
              <a:t>$10.86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5603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F8C8D"/>
                </a:solidFill>
                <a:latin typeface="Calibri"/>
              </a:defRPr>
            </a:pPr>
            <a:r>
              <a:t>ARPU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463040"/>
            <a:ext cx="1554480" cy="10058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926080" y="1600200"/>
            <a:ext cx="1554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2ECC71"/>
                </a:solidFill>
                <a:latin typeface="Calibri"/>
              </a:defRPr>
            </a:pPr>
            <a:r>
              <a:rPr dirty="0"/>
              <a:t>$21.07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25603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F8C8D"/>
                </a:solidFill>
                <a:latin typeface="Calibri"/>
              </a:defRPr>
            </a:pPr>
            <a:r>
              <a:t>ARPPU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1463040"/>
            <a:ext cx="1554480" cy="10058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0" y="1600200"/>
            <a:ext cx="1554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2ECC71"/>
                </a:solidFill>
                <a:latin typeface="Calibri"/>
              </a:defRPr>
            </a:pPr>
            <a:r>
              <a:t>51.5%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5603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F8C8D"/>
                </a:solidFill>
                <a:latin typeface="Calibri"/>
              </a:defRPr>
            </a:pPr>
            <a:r>
              <a:t>Conversion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1463040"/>
            <a:ext cx="1554480" cy="10058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0" y="1600200"/>
            <a:ext cx="1554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2ECC71"/>
                </a:solidFill>
                <a:latin typeface="Calibri"/>
              </a:defRPr>
            </a:pPr>
            <a:r>
              <a:t>$10.9K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60320"/>
            <a:ext cx="1554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7F8C8D"/>
                </a:solidFill>
                <a:latin typeface="Calibri"/>
              </a:defRPr>
            </a:pPr>
            <a:r>
              <a:t>Total Revenue</a:t>
            </a:r>
          </a:p>
        </p:txBody>
      </p:sp>
      <p:pic>
        <p:nvPicPr>
          <p:cNvPr id="15" name="Picture 14" descr="04_revenue_by_i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3017520"/>
            <a:ext cx="5486400" cy="32918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14400" y="6384175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0">
                <a:solidFill>
                  <a:srgbClr val="7F8C8D"/>
                </a:solidFill>
                <a:latin typeface="Calibri"/>
              </a:defRPr>
            </a:pPr>
            <a:r>
              <a:rPr dirty="0"/>
              <a:t>Diamond Pack ($49.99) drives 62% of revenue - premium monetization works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F8C8D"/>
                </a:solidFill>
                <a:latin typeface="Calibri"/>
              </a:defRPr>
            </a:pPr>
            <a:r>
              <a:t>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hart with numbers and a number of people&#10;&#10;AI-generated content may be incorrect.">
            <a:extLst>
              <a:ext uri="{FF2B5EF4-FFF2-40B4-BE49-F238E27FC236}">
                <a16:creationId xmlns:a16="http://schemas.microsoft.com/office/drawing/2014/main" id="{EAE6632C-2896-68F4-8C3C-BE8606710A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595437"/>
            <a:ext cx="6315076" cy="5262564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C3E50"/>
                </a:solidFill>
                <a:latin typeface="Calibri"/>
              </a:defRPr>
            </a:pPr>
            <a:r>
              <a:t>High-Value Demographics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15075" y="1645920"/>
            <a:ext cx="2554605" cy="3883343"/>
          </a:xfrm>
          <a:prstGeom prst="roundRect">
            <a:avLst/>
          </a:prstGeom>
          <a:solidFill>
            <a:srgbClr val="F8F9FA"/>
          </a:solidFill>
          <a:ln w="635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3600000" scaled="0"/>
            </a:gradFill>
          </a:ln>
          <a:effectLst>
            <a:glow rad="579646">
              <a:schemeClr val="accent1">
                <a:lumMod val="60000"/>
                <a:lumOff val="40000"/>
                <a:alpha val="5000"/>
              </a:schemeClr>
            </a:glow>
            <a:outerShdw blurRad="387716" dist="38100" dir="2700000" algn="tl" rotWithShape="0">
              <a:prstClr val="black">
                <a:alpha val="4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500812" y="2069226"/>
            <a:ext cx="2185988" cy="30367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3498DB"/>
                </a:solidFill>
                <a:latin typeface="Calibri"/>
              </a:defRPr>
            </a:pPr>
            <a:r>
              <a:rPr dirty="0"/>
              <a:t>Top Markets:</a:t>
            </a:r>
          </a:p>
          <a:p>
            <a:pPr>
              <a:spcAft>
                <a:spcPts val="8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rPr dirty="0"/>
              <a:t>• Suriname: $39.19 ARPU</a:t>
            </a:r>
          </a:p>
          <a:p>
            <a:pPr>
              <a:spcAft>
                <a:spcPts val="8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rPr dirty="0"/>
              <a:t>• Ireland: $22.98 ARPU</a:t>
            </a:r>
          </a:p>
          <a:p>
            <a:pPr>
              <a:spcAft>
                <a:spcPts val="8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endParaRPr dirty="0"/>
          </a:p>
          <a:p>
            <a:pPr>
              <a:spcAft>
                <a:spcPts val="800"/>
              </a:spcAft>
              <a:defRPr sz="1600" b="1">
                <a:solidFill>
                  <a:srgbClr val="3498DB"/>
                </a:solidFill>
                <a:latin typeface="Calibri"/>
              </a:defRPr>
            </a:pPr>
            <a:r>
              <a:rPr dirty="0"/>
              <a:t>Best Age Group:</a:t>
            </a:r>
          </a:p>
          <a:p>
            <a:pPr>
              <a:spcAft>
                <a:spcPts val="8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rPr dirty="0"/>
              <a:t>• 18-25: $13.38 ARPU</a:t>
            </a:r>
          </a:p>
          <a:p>
            <a:pPr>
              <a:spcAft>
                <a:spcPts val="8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endParaRPr dirty="0"/>
          </a:p>
          <a:p>
            <a:pPr>
              <a:spcAft>
                <a:spcPts val="800"/>
              </a:spcAft>
              <a:defRPr sz="1600" b="1">
                <a:solidFill>
                  <a:srgbClr val="3498DB"/>
                </a:solidFill>
                <a:latin typeface="Calibri"/>
              </a:defRPr>
            </a:pPr>
            <a:r>
              <a:rPr dirty="0"/>
              <a:t>High-Value Profile:</a:t>
            </a:r>
          </a:p>
          <a:p>
            <a:pPr>
              <a:spcAft>
                <a:spcPts val="800"/>
              </a:spcAft>
              <a:defRPr sz="1500">
                <a:solidFill>
                  <a:srgbClr val="212121"/>
                </a:solidFill>
                <a:latin typeface="Calibri"/>
              </a:defRPr>
            </a:pPr>
            <a:r>
              <a:rPr dirty="0"/>
              <a:t>Ireland + 18-25 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F8C8D"/>
                </a:solidFill>
                <a:latin typeface="Calibri"/>
              </a:defRPr>
            </a:pPr>
            <a:r>
              <a:t>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C3E50"/>
                </a:solidFill>
                <a:latin typeface="Calibri"/>
              </a:defRPr>
            </a:pPr>
            <a:r>
              <a:rPr dirty="0"/>
              <a:t>Key Findings &amp;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6949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rPr dirty="0"/>
              <a:t>65.6% retention → Protect core gameplay loop (3-4x industry avg)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rPr dirty="0"/>
              <a:t>51.5% conversion → Focus on ARPPU growth, not conversion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rPr dirty="0"/>
              <a:t>Diamond Pack dominance → Expand $50-$100 premium tier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212121"/>
                </a:solidFill>
                <a:latin typeface="Calibri"/>
              </a:defRPr>
            </a:pPr>
            <a:r>
              <a:rPr dirty="0"/>
              <a:t>Geographic winners → Target Ireland, Suriname, Brazil for UA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06285" y="5212080"/>
            <a:ext cx="6531429" cy="914400"/>
          </a:xfrm>
          <a:prstGeom prst="roundRect">
            <a:avLst/>
          </a:prstGeom>
          <a:gradFill flip="none" rotWithShape="1">
            <a:gsLst>
              <a:gs pos="0">
                <a:schemeClr val="accent4">
                  <a:alpha val="40687"/>
                  <a:lumMod val="73000"/>
                </a:schemeClr>
              </a:gs>
              <a:gs pos="48000">
                <a:schemeClr val="accent6">
                  <a:lumMod val="97421"/>
                  <a:lumOff val="2579"/>
                  <a:alpha val="76000"/>
                </a:schemeClr>
              </a:gs>
              <a:gs pos="100000">
                <a:schemeClr val="accent4">
                  <a:alpha val="67000"/>
                  <a:lumMod val="9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6350">
            <a:noFill/>
          </a:ln>
          <a:effectLst>
            <a:outerShdw blurRad="535990" sx="98000" sy="98000" algn="ctr" rotWithShape="0">
              <a:prstClr val="black">
                <a:alpha val="18347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06286" y="530352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rPr dirty="0"/>
              <a:t>Action: Scale premium monetization for +31% revenue potential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F8C8D"/>
                </a:solidFill>
                <a:latin typeface="Calibri"/>
              </a:defRPr>
            </a:pPr>
            <a:r>
              <a:t>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2C3E50"/>
                </a:solidFill>
                <a:latin typeface="Calibri"/>
              </a:defRPr>
            </a:pPr>
            <a:r>
              <a:rPr dirty="0"/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7275" y="1363773"/>
            <a:ext cx="167013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498DB"/>
                </a:solidFill>
                <a:latin typeface="Calibri"/>
              </a:defRPr>
            </a:pPr>
            <a:r>
              <a:rPr dirty="0"/>
              <a:t>Gather &amp; Store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1595" y="1729533"/>
            <a:ext cx="3128998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ECC71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85000"/>
                    <a:lumOff val="15000"/>
                  </a:schemeClr>
                </a:solidFill>
              </a:rPr>
              <a:t>Normalized DB with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</a:t>
            </a:r>
            <a:r>
              <a:rPr dirty="0">
                <a:solidFill>
                  <a:schemeClr val="tx1">
                    <a:lumMod val="85000"/>
                    <a:lumOff val="15000"/>
                  </a:schemeClr>
                </a:solidFill>
              </a:rPr>
              <a:t>proper indexes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1595" y="2022141"/>
            <a:ext cx="334072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ECC71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Non-intrusive async data transmission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1595" y="2314749"/>
            <a:ext cx="2916055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ECC71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SOLID principles &amp; modular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7275" y="2717085"/>
            <a:ext cx="105144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498DB"/>
                </a:solidFill>
                <a:latin typeface="Calibri"/>
              </a:defRPr>
            </a:pPr>
            <a:r>
              <a:rPr dirty="0"/>
              <a:t>Analytics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31595" y="3082845"/>
            <a:ext cx="3163110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ECC71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Correct KPI calculations with 95% CI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1595" y="3375453"/>
            <a:ext cx="3164136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ECC71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Statistical rigor &amp; hypothesis testing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1595" y="3668061"/>
            <a:ext cx="270118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ECC71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Efficient, reusable SQL queries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7275" y="4070397"/>
            <a:ext cx="112383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498DB"/>
                </a:solidFill>
                <a:latin typeface="Calibri"/>
              </a:defRPr>
            </a:pPr>
            <a:r>
              <a:rPr dirty="0"/>
              <a:t>Reporting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31595" y="4436157"/>
            <a:ext cx="262680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ECC71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Clear visualizations &amp; insights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1595" y="4728765"/>
            <a:ext cx="2303964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ECC71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Professional presentation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1595" y="5021373"/>
            <a:ext cx="339875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ECC71"/>
                </a:solidFill>
                <a:latin typeface="Calibri"/>
              </a:defRPr>
            </a:pPr>
            <a:r>
              <a:rPr dirty="0">
                <a:solidFill>
                  <a:schemeClr val="tx1">
                    <a:lumMod val="95000"/>
                    <a:lumOff val="5000"/>
                  </a:schemeClr>
                </a:solidFill>
              </a:rPr>
              <a:t>Actionable business recommendations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599" y="5639593"/>
            <a:ext cx="6185807" cy="761207"/>
          </a:xfrm>
          <a:prstGeom prst="roundRect">
            <a:avLst/>
          </a:prstGeom>
          <a:gradFill flip="none" rotWithShape="1">
            <a:gsLst>
              <a:gs pos="69000">
                <a:srgbClr val="CEDCE0">
                  <a:lumMod val="38000"/>
                  <a:lumOff val="62000"/>
                </a:srgbClr>
              </a:gs>
              <a:gs pos="100000">
                <a:schemeClr val="accent3">
                  <a:lumMod val="20000"/>
                  <a:lumOff val="8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6350" cap="rnd">
            <a:noFill/>
          </a:ln>
          <a:effectLst>
            <a:outerShdw blurRad="386222" dir="3000000" algn="tl" rotWithShape="0">
              <a:prstClr val="black">
                <a:alpha val="14955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586593" y="5697030"/>
            <a:ext cx="597081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C3E50"/>
                </a:solidFill>
                <a:latin typeface="Calibri"/>
              </a:defRPr>
            </a:pPr>
            <a:r>
              <a:rPr dirty="0"/>
              <a:t>Production-ready analytics pipeline converting data into $3K+ revenue opportunities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6492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F8C8D"/>
                </a:solidFill>
                <a:latin typeface="Calibri"/>
              </a:defRPr>
            </a:pPr>
            <a:r>
              <a:t>10/10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EB603CE-20D5-E94A-9EAE-FA9613383EB1}"/>
              </a:ext>
            </a:extLst>
          </p:cNvPr>
          <p:cNvSpPr txBox="1"/>
          <p:nvPr/>
        </p:nvSpPr>
        <p:spPr>
          <a:xfrm>
            <a:off x="4730346" y="1363773"/>
            <a:ext cx="206864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498DB"/>
                </a:solidFill>
                <a:latin typeface="Calibri"/>
              </a:defRPr>
            </a:pPr>
            <a:r>
              <a:rPr lang="en-US" dirty="0"/>
              <a:t>Pipeline Limitations</a:t>
            </a:r>
            <a:endParaRPr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2C7852-E14E-D3DE-D61A-829CECB02F12}"/>
              </a:ext>
            </a:extLst>
          </p:cNvPr>
          <p:cNvSpPr txBox="1"/>
          <p:nvPr/>
        </p:nvSpPr>
        <p:spPr>
          <a:xfrm>
            <a:off x="5067674" y="1901844"/>
            <a:ext cx="2913202" cy="374571"/>
          </a:xfrm>
          <a:prstGeom prst="roundRect">
            <a:avLst/>
          </a:prstGeom>
          <a:solidFill>
            <a:srgbClr val="D5F5FF"/>
          </a:solidFill>
          <a:effectLst>
            <a:outerShdw blurRad="214469" dist="50800" dir="5400000" sx="104000" sy="104000" algn="ctr" rotWithShape="0">
              <a:srgbClr val="000000">
                <a:alpha val="3877"/>
              </a:srgbClr>
            </a:outerShdw>
            <a:softEdge rad="0"/>
          </a:effectLst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Simulated data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4E598E0-BD47-4581-C83D-041603DB522F}"/>
              </a:ext>
            </a:extLst>
          </p:cNvPr>
          <p:cNvSpPr txBox="1"/>
          <p:nvPr/>
        </p:nvSpPr>
        <p:spPr>
          <a:xfrm>
            <a:off x="5078350" y="2565455"/>
            <a:ext cx="2913202" cy="374571"/>
          </a:xfrm>
          <a:prstGeom prst="roundRect">
            <a:avLst/>
          </a:prstGeom>
          <a:solidFill>
            <a:srgbClr val="D5F5FF"/>
          </a:solidFill>
          <a:effectLst>
            <a:outerShdw blurRad="214469" dist="50800" dir="5400000" sx="104000" sy="104000" algn="ctr" rotWithShape="0">
              <a:srgbClr val="000000">
                <a:alpha val="3877"/>
              </a:srgbClr>
            </a:outerShdw>
            <a:softEdge rad="0"/>
          </a:effectLst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Sample size of 100 users/cycle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8B66A16-2734-11C7-7D32-10D6A3B9DEB7}"/>
              </a:ext>
            </a:extLst>
          </p:cNvPr>
          <p:cNvSpPr txBox="1"/>
          <p:nvPr/>
        </p:nvSpPr>
        <p:spPr>
          <a:xfrm>
            <a:off x="5078350" y="3231069"/>
            <a:ext cx="2913202" cy="374571"/>
          </a:xfrm>
          <a:prstGeom prst="roundRect">
            <a:avLst/>
          </a:prstGeom>
          <a:solidFill>
            <a:srgbClr val="D5F5FF"/>
          </a:solidFill>
          <a:effectLst>
            <a:outerShdw blurRad="214469" dist="50800" dir="5400000" sx="104000" sy="104000" algn="ctr" rotWithShape="0">
              <a:srgbClr val="000000">
                <a:alpha val="3877"/>
              </a:srgbClr>
            </a:outerShdw>
            <a:softEdge rad="0"/>
          </a:effectLst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Short time window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6F75267-589E-6672-C9C4-6141595738AD}"/>
              </a:ext>
            </a:extLst>
          </p:cNvPr>
          <p:cNvSpPr txBox="1"/>
          <p:nvPr/>
        </p:nvSpPr>
        <p:spPr>
          <a:xfrm>
            <a:off x="5067674" y="3898132"/>
            <a:ext cx="2913202" cy="374571"/>
          </a:xfrm>
          <a:prstGeom prst="roundRect">
            <a:avLst/>
          </a:prstGeom>
          <a:solidFill>
            <a:srgbClr val="D5F5FF"/>
          </a:solidFill>
          <a:effectLst>
            <a:outerShdw blurRad="214469" dist="50800" dir="5400000" sx="104000" sy="104000" algn="ctr" rotWithShape="0">
              <a:srgbClr val="000000">
                <a:alpha val="3877"/>
              </a:srgbClr>
            </a:outerShdw>
            <a:softEdge rad="0"/>
          </a:effectLst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alibri" panose="020F0502020204030204" pitchFamily="34" charset="0"/>
                <a:cs typeface="Calibri" panose="020F0502020204030204" pitchFamily="34" charset="0"/>
              </a:rPr>
              <a:t>No experimental design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DAC7177-44C5-9ACE-ABFB-987176137427}"/>
              </a:ext>
            </a:extLst>
          </p:cNvPr>
          <p:cNvSpPr txBox="1"/>
          <p:nvPr/>
        </p:nvSpPr>
        <p:spPr>
          <a:xfrm>
            <a:off x="5067674" y="4565555"/>
            <a:ext cx="2913202" cy="646986"/>
          </a:xfrm>
          <a:prstGeom prst="roundRect">
            <a:avLst/>
          </a:prstGeom>
          <a:solidFill>
            <a:srgbClr val="D5F5FF"/>
          </a:solidFill>
          <a:effectLst>
            <a:outerShdw blurRad="214469" dist="50800" dir="5400000" sx="104000" sy="104000" algn="ctr" rotWithShape="0">
              <a:srgbClr val="000000">
                <a:alpha val="3877"/>
              </a:srgbClr>
            </a:outerShdw>
            <a:softEdge rad="0"/>
          </a:effectLst>
        </p:spPr>
        <p:txBody>
          <a:bodyPr wrap="square" rtlCol="0">
            <a:spAutoFit/>
          </a:bodyPr>
          <a:lstStyle/>
          <a:p>
            <a:pPr lvl="0">
              <a:spcAft>
                <a:spcPts val="600"/>
              </a:spcAft>
              <a:defRPr/>
            </a:pPr>
            <a:r>
              <a:rPr lang="en-US" sz="1600" dirty="0">
                <a:solidFill>
                  <a:prstClr val="black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Retention metrics limited by simulation time constraints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B6BCC-C0F4-1EDE-65C9-17502ADA0D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571749"/>
            <a:ext cx="7772400" cy="993775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002060"/>
                </a:solidFill>
                <a:latin typeface="+mn-lt"/>
                <a:ea typeface="Apple Symbols" panose="02000000000000000000" pitchFamily="2" charset="-79"/>
                <a:cs typeface="Apple Symbols" panose="02000000000000000000" pitchFamily="2" charset="-79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6619615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Madison</Template>
  <TotalTime>1437</TotalTime>
  <Words>440</Words>
  <Application>Microsoft Macintosh PowerPoint</Application>
  <PresentationFormat>On-screen Show (4:3)</PresentationFormat>
  <Paragraphs>126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2013 - 2022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yiwei ye</cp:lastModifiedBy>
  <cp:revision>18</cp:revision>
  <dcterms:created xsi:type="dcterms:W3CDTF">2013-01-27T09:14:16Z</dcterms:created>
  <dcterms:modified xsi:type="dcterms:W3CDTF">2025-11-07T12:14:32Z</dcterms:modified>
  <cp:category/>
</cp:coreProperties>
</file>